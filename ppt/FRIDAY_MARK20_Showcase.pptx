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01"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Rounded Rectangle 1"/>
          <p:cNvSpPr/>
          <p:nvPr/>
        </p:nvSpPr>
        <p:spPr>
          <a:xfrm>
            <a:off x="731520" y="731520"/>
            <a:ext cx="10728655" cy="5394960"/>
          </a:xfrm>
          <a:prstGeom prst="roundRect">
            <a:avLst/>
          </a:prstGeom>
          <a:solidFill>
            <a:srgbClr val="080E1C"/>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header_banner_clean.png"/>
          <p:cNvPicPr>
            <a:picLocks noChangeAspect="1"/>
          </p:cNvPicPr>
          <p:nvPr/>
        </p:nvPicPr>
        <p:blipFill>
          <a:blip r:embed="rId2"/>
          <a:stretch>
            <a:fillRect/>
          </a:stretch>
        </p:blipFill>
        <p:spPr>
          <a:xfrm>
            <a:off x="1097280" y="1005840"/>
            <a:ext cx="9997135" cy="2926080"/>
          </a:xfrm>
          <a:prstGeom prst="rect">
            <a:avLst/>
          </a:prstGeom>
        </p:spPr>
      </p:pic>
      <p:sp>
        <p:nvSpPr>
          <p:cNvPr id="4" name="Rounded Rectangle 3"/>
          <p:cNvSpPr/>
          <p:nvPr/>
        </p:nvSpPr>
        <p:spPr>
          <a:xfrm>
            <a:off x="1097280" y="4160520"/>
            <a:ext cx="1874519" cy="502920"/>
          </a:xfrm>
          <a:prstGeom prst="roundRect">
            <a:avLst/>
          </a:prstGeom>
          <a:solidFill>
            <a:srgbClr val="0F17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FFFFFF"/>
                </a:solidFill>
              </a:defRPr>
            </a:pPr>
            <a:r>
              <a:t>🛡️ EDITH Security L4</a:t>
            </a:r>
          </a:p>
        </p:txBody>
      </p:sp>
      <p:sp>
        <p:nvSpPr>
          <p:cNvPr id="5" name="Rounded Rectangle 4"/>
          <p:cNvSpPr/>
          <p:nvPr/>
        </p:nvSpPr>
        <p:spPr>
          <a:xfrm>
            <a:off x="3136391" y="4160520"/>
            <a:ext cx="1874519" cy="502920"/>
          </a:xfrm>
          <a:prstGeom prst="roundRect">
            <a:avLst/>
          </a:prstGeom>
          <a:solidFill>
            <a:srgbClr val="0F17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FFFFFF"/>
                </a:solidFill>
              </a:defRPr>
            </a:pPr>
            <a:r>
              <a:t>⚡ Dev Agent Engine</a:t>
            </a:r>
          </a:p>
        </p:txBody>
      </p:sp>
      <p:sp>
        <p:nvSpPr>
          <p:cNvPr id="6" name="Rounded Rectangle 5"/>
          <p:cNvSpPr/>
          <p:nvPr/>
        </p:nvSpPr>
        <p:spPr>
          <a:xfrm>
            <a:off x="5175502" y="4160520"/>
            <a:ext cx="1874519" cy="502920"/>
          </a:xfrm>
          <a:prstGeom prst="roundRect">
            <a:avLst/>
          </a:prstGeom>
          <a:solidFill>
            <a:srgbClr val="0F17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FFFFFF"/>
                </a:solidFill>
              </a:defRPr>
            </a:pPr>
            <a:r>
              <a:t>📱 Mobile Web HUD</a:t>
            </a:r>
          </a:p>
        </p:txBody>
      </p:sp>
      <p:sp>
        <p:nvSpPr>
          <p:cNvPr id="7" name="Rounded Rectangle 6"/>
          <p:cNvSpPr/>
          <p:nvPr/>
        </p:nvSpPr>
        <p:spPr>
          <a:xfrm>
            <a:off x="7214613" y="4160520"/>
            <a:ext cx="1874519" cy="502920"/>
          </a:xfrm>
          <a:prstGeom prst="roundRect">
            <a:avLst/>
          </a:prstGeom>
          <a:solidFill>
            <a:srgbClr val="0F172A"/>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FFFFFF"/>
                </a:solidFill>
              </a:defRPr>
            </a:pPr>
            <a:r>
              <a:t>🎭 3D Wireframe Avatar</a:t>
            </a:r>
          </a:p>
        </p:txBody>
      </p:sp>
      <p:sp>
        <p:nvSpPr>
          <p:cNvPr id="8" name="Rounded Rectangle 7"/>
          <p:cNvSpPr/>
          <p:nvPr/>
        </p:nvSpPr>
        <p:spPr>
          <a:xfrm>
            <a:off x="9253724" y="4160520"/>
            <a:ext cx="1874519" cy="502920"/>
          </a:xfrm>
          <a:prstGeom prst="roundRect">
            <a:avLst/>
          </a:prstGeom>
          <a:solidFill>
            <a:srgbClr val="0F172A"/>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50" b="1">
                <a:solidFill>
                  <a:srgbClr val="FFFFFF"/>
                </a:solidFill>
              </a:defRPr>
            </a:pPr>
            <a:r>
              <a:t>🎙️ Real-Time Gemini Live</a:t>
            </a:r>
          </a:p>
        </p:txBody>
      </p:sp>
      <p:sp>
        <p:nvSpPr>
          <p:cNvPr id="9" name="TextBox 8"/>
          <p:cNvSpPr txBox="1"/>
          <p:nvPr/>
        </p:nvSpPr>
        <p:spPr>
          <a:xfrm>
            <a:off x="1097280" y="4937760"/>
            <a:ext cx="9997135" cy="731520"/>
          </a:xfrm>
          <a:prstGeom prst="rect">
            <a:avLst/>
          </a:prstGeom>
          <a:noFill/>
        </p:spPr>
        <p:txBody>
          <a:bodyPr wrap="square">
            <a:spAutoFit/>
          </a:bodyPr>
          <a:lstStyle/>
          <a:p>
            <a:pPr algn="ctr">
              <a:defRPr sz="1300" b="1">
                <a:solidFill>
                  <a:srgbClr val="00F2FE"/>
                </a:solidFill>
                <a:latin typeface="Segoe UI"/>
              </a:defRPr>
            </a:pPr>
            <a:r>
              <a:t>ENGINEERED WITH PASSION BY PRANAY GANDLEWAR</a:t>
            </a:r>
          </a:p>
          <a:p>
            <a:pPr algn="ctr">
              <a:defRPr sz="1100">
                <a:solidFill>
                  <a:srgbClr val="94A3B8"/>
                </a:solidFill>
                <a:latin typeface="Segoe UI"/>
              </a:defRPr>
            </a:pPr>
            <a:r>
              <a:t>Portfolio: pranay-portfoliio.vercel.app  •  Instagram: @mr.pranay_1101  •  Contact: pranay.tech.ai@gmail.com</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childTnLst>
                                </p:cTn>
                              </p:par>
                            </p:childTnLst>
                          </p:cTn>
                        </p:par>
                        <p:par>
                          <p:cTn id="9" fill="hold">
                            <p:stCondLst>
                              <p:cond delay="750"/>
                            </p:stCondLst>
                            <p:childTnLst>
                              <p:par>
                                <p:cTn id="10" presetID="3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480" decel="100000"/>
                                        <p:tgtEl>
                                          <p:spTgt spid="3"/>
                                        </p:tgtEl>
                                      </p:cBhvr>
                                    </p:animEffect>
                                    <p:anim calcmode="lin" valueType="num">
                                      <p:cBhvr>
                                        <p:cTn id="13" dur="480" decel="100000" fill="hold"/>
                                        <p:tgtEl>
                                          <p:spTgt spid="3"/>
                                        </p:tgtEl>
                                        <p:attrNameLst>
                                          <p:attrName>style.rotation</p:attrName>
                                        </p:attrNameLst>
                                      </p:cBhvr>
                                      <p:tavLst>
                                        <p:tav tm="0">
                                          <p:val>
                                            <p:fltVal val="-90"/>
                                          </p:val>
                                        </p:tav>
                                        <p:tav tm="100000">
                                          <p:val>
                                            <p:fltVal val="0"/>
                                          </p:val>
                                        </p:tav>
                                      </p:tavLst>
                                    </p:anim>
                                    <p:anim calcmode="lin" valueType="num">
                                      <p:cBhvr>
                                        <p:cTn id="14" dur="480" decel="100000" fill="hold"/>
                                        <p:tgtEl>
                                          <p:spTgt spid="3"/>
                                        </p:tgtEl>
                                        <p:attrNameLst>
                                          <p:attrName>ppt_x</p:attrName>
                                        </p:attrNameLst>
                                      </p:cBhvr>
                                      <p:tavLst>
                                        <p:tav tm="0">
                                          <p:val>
                                            <p:strVal val="#ppt_x+0.4"/>
                                          </p:val>
                                        </p:tav>
                                        <p:tav tm="100000">
                                          <p:val>
                                            <p:strVal val="#ppt_x-0.05"/>
                                          </p:val>
                                        </p:tav>
                                      </p:tavLst>
                                    </p:anim>
                                    <p:anim calcmode="lin" valueType="num">
                                      <p:cBhvr>
                                        <p:cTn id="15" dur="480" decel="100000" fill="hold"/>
                                        <p:tgtEl>
                                          <p:spTgt spid="3"/>
                                        </p:tgtEl>
                                        <p:attrNameLst>
                                          <p:attrName>ppt_y</p:attrName>
                                        </p:attrNameLst>
                                      </p:cBhvr>
                                      <p:tavLst>
                                        <p:tav tm="0">
                                          <p:val>
                                            <p:strVal val="#ppt_y-0.4"/>
                                          </p:val>
                                        </p:tav>
                                        <p:tav tm="100000">
                                          <p:val>
                                            <p:strVal val="#ppt_y+0.1"/>
                                          </p:val>
                                        </p:tav>
                                      </p:tavLst>
                                    </p:anim>
                                    <p:anim calcmode="lin" valueType="num">
                                      <p:cBhvr>
                                        <p:cTn id="16" dur="120" accel="100000" fill="hold">
                                          <p:stCondLst>
                                            <p:cond delay="480"/>
                                          </p:stCondLst>
                                        </p:cTn>
                                        <p:tgtEl>
                                          <p:spTgt spid="3"/>
                                        </p:tgtEl>
                                        <p:attrNameLst>
                                          <p:attrName>ppt_x</p:attrName>
                                        </p:attrNameLst>
                                      </p:cBhvr>
                                      <p:tavLst>
                                        <p:tav tm="0">
                                          <p:val>
                                            <p:strVal val="#ppt_x-0.05"/>
                                          </p:val>
                                        </p:tav>
                                        <p:tav tm="100000">
                                          <p:val>
                                            <p:strVal val="#ppt_x"/>
                                          </p:val>
                                        </p:tav>
                                      </p:tavLst>
                                    </p:anim>
                                    <p:anim calcmode="lin" valueType="num">
                                      <p:cBhvr>
                                        <p:cTn id="17" dur="120" accel="100000" fill="hold">
                                          <p:stCondLst>
                                            <p:cond delay="480"/>
                                          </p:stCondLst>
                                        </p:cTn>
                                        <p:tgtEl>
                                          <p:spTgt spid="3"/>
                                        </p:tgtEl>
                                        <p:attrNameLst>
                                          <p:attrName>ppt_y</p:attrName>
                                        </p:attrNameLst>
                                      </p:cBhvr>
                                      <p:tavLst>
                                        <p:tav tm="0">
                                          <p:val>
                                            <p:strVal val="#ppt_y+0.1"/>
                                          </p:val>
                                        </p:tav>
                                        <p:tav tm="100000">
                                          <p:val>
                                            <p:strVal val="#ppt_y"/>
                                          </p:val>
                                        </p:tav>
                                      </p:tavLst>
                                    </p:anim>
                                  </p:childTnLst>
                                </p:cTn>
                              </p:par>
                            </p:childTnLst>
                          </p:cTn>
                        </p:par>
                        <p:par>
                          <p:cTn id="18" fill="hold">
                            <p:stCondLst>
                              <p:cond delay="1350"/>
                            </p:stCondLst>
                            <p:childTnLst>
                              <p:par>
                                <p:cTn id="19" presetID="2" presetClass="entr" presetSubtype="8"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0-#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par>
                          <p:cTn id="23" fill="hold">
                            <p:stCondLst>
                              <p:cond delay="1850"/>
                            </p:stCondLst>
                            <p:childTnLst>
                              <p:par>
                                <p:cTn id="24" presetID="2" presetClass="entr" presetSubtype="8"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0-#ppt_w/2"/>
                                          </p:val>
                                        </p:tav>
                                        <p:tav tm="100000">
                                          <p:val>
                                            <p:strVal val="#ppt_x"/>
                                          </p:val>
                                        </p:tav>
                                      </p:tavLst>
                                    </p:anim>
                                    <p:anim calcmode="lin" valueType="num">
                                      <p:cBhvr additive="base">
                                        <p:cTn id="27" dur="500" fill="hold"/>
                                        <p:tgtEl>
                                          <p:spTgt spid="5"/>
                                        </p:tgtEl>
                                        <p:attrNameLst>
                                          <p:attrName>ppt_y</p:attrName>
                                        </p:attrNameLst>
                                      </p:cBhvr>
                                      <p:tavLst>
                                        <p:tav tm="0">
                                          <p:val>
                                            <p:strVal val="#ppt_y"/>
                                          </p:val>
                                        </p:tav>
                                        <p:tav tm="100000">
                                          <p:val>
                                            <p:strVal val="#ppt_y"/>
                                          </p:val>
                                        </p:tav>
                                      </p:tavLst>
                                    </p:anim>
                                  </p:childTnLst>
                                </p:cTn>
                              </p:par>
                            </p:childTnLst>
                          </p:cTn>
                        </p:par>
                        <p:par>
                          <p:cTn id="28" fill="hold">
                            <p:stCondLst>
                              <p:cond delay="2350"/>
                            </p:stCondLst>
                            <p:childTnLst>
                              <p:par>
                                <p:cTn id="29" presetID="2" presetClass="entr" presetSubtype="8"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par>
                          <p:cTn id="33" fill="hold">
                            <p:stCondLst>
                              <p:cond delay="2850"/>
                            </p:stCondLst>
                            <p:childTnLst>
                              <p:par>
                                <p:cTn id="34" presetID="2" presetClass="entr" presetSubtype="8"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0-#ppt_w/2"/>
                                          </p:val>
                                        </p:tav>
                                        <p:tav tm="100000">
                                          <p:val>
                                            <p:strVal val="#ppt_x"/>
                                          </p:val>
                                        </p:tav>
                                      </p:tavLst>
                                    </p:anim>
                                    <p:anim calcmode="lin" valueType="num">
                                      <p:cBhvr additive="base">
                                        <p:cTn id="37" dur="500" fill="hold"/>
                                        <p:tgtEl>
                                          <p:spTgt spid="7"/>
                                        </p:tgtEl>
                                        <p:attrNameLst>
                                          <p:attrName>ppt_y</p:attrName>
                                        </p:attrNameLst>
                                      </p:cBhvr>
                                      <p:tavLst>
                                        <p:tav tm="0">
                                          <p:val>
                                            <p:strVal val="#ppt_y"/>
                                          </p:val>
                                        </p:tav>
                                        <p:tav tm="100000">
                                          <p:val>
                                            <p:strVal val="#ppt_y"/>
                                          </p:val>
                                        </p:tav>
                                      </p:tavLst>
                                    </p:anim>
                                  </p:childTnLst>
                                </p:cTn>
                              </p:par>
                            </p:childTnLst>
                          </p:cTn>
                        </p:par>
                        <p:par>
                          <p:cTn id="38" fill="hold">
                            <p:stCondLst>
                              <p:cond delay="3350"/>
                            </p:stCondLst>
                            <p:childTnLst>
                              <p:par>
                                <p:cTn id="39" presetID="2" presetClass="entr" presetSubtype="8" fill="hold" grpId="0" nodeType="after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0-#ppt_w/2"/>
                                          </p:val>
                                        </p:tav>
                                        <p:tav tm="100000">
                                          <p:val>
                                            <p:strVal val="#ppt_x"/>
                                          </p:val>
                                        </p:tav>
                                      </p:tavLst>
                                    </p:anim>
                                    <p:anim calcmode="lin" valueType="num">
                                      <p:cBhvr additive="base">
                                        <p:cTn id="42" dur="500" fill="hold"/>
                                        <p:tgtEl>
                                          <p:spTgt spid="8"/>
                                        </p:tgtEl>
                                        <p:attrNameLst>
                                          <p:attrName>ppt_y</p:attrName>
                                        </p:attrNameLst>
                                      </p:cBhvr>
                                      <p:tavLst>
                                        <p:tav tm="0">
                                          <p:val>
                                            <p:strVal val="#ppt_y"/>
                                          </p:val>
                                        </p:tav>
                                        <p:tav tm="100000">
                                          <p:val>
                                            <p:strVal val="#ppt_y"/>
                                          </p:val>
                                        </p:tav>
                                      </p:tavLst>
                                    </p:anim>
                                  </p:childTnLst>
                                </p:cTn>
                              </p:par>
                            </p:childTnLst>
                          </p:cTn>
                        </p:par>
                        <p:par>
                          <p:cTn id="43" fill="hold">
                            <p:stCondLst>
                              <p:cond delay="3850"/>
                            </p:stCondLst>
                            <p:childTnLst>
                              <p:par>
                                <p:cTn id="44" presetID="10" presetClass="entr" presetSubtype="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SYSTEM ARCHITECTURE</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Dual-Brain Intelligence: Cloud Voice + Local Nervous System</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Designed for ultra-low latency conversational speed with deep hardware orchestration.</a:t>
            </a:r>
          </a:p>
        </p:txBody>
      </p:sp>
      <p:sp>
        <p:nvSpPr>
          <p:cNvPr id="5" name="Rounded Rectangle 4"/>
          <p:cNvSpPr/>
          <p:nvPr/>
        </p:nvSpPr>
        <p:spPr>
          <a:xfrm>
            <a:off x="731520" y="1645920"/>
            <a:ext cx="3291840" cy="411480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100" b="1">
                <a:solidFill>
                  <a:srgbClr val="00F2FE"/>
                </a:solidFill>
                <a:latin typeface="Consolas"/>
              </a:defRPr>
            </a:pPr>
            <a:r>
              <a:t>// CORE PILLAR 01</a:t>
            </a:r>
          </a:p>
          <a:p>
            <a:pPr>
              <a:spcAft>
                <a:spcPts val="1400"/>
              </a:spcAft>
              <a:defRPr sz="1800" b="1">
                <a:solidFill>
                  <a:srgbClr val="FFFFFF"/>
                </a:solidFill>
                <a:latin typeface="Segoe UI"/>
              </a:defRPr>
            </a:pPr>
            <a:r>
              <a:t>Gemini Live Voice Brain</a:t>
            </a:r>
          </a:p>
          <a:p>
            <a:pPr>
              <a:spcAft>
                <a:spcPts val="800"/>
              </a:spcAft>
              <a:defRPr sz="1200">
                <a:solidFill>
                  <a:srgbClr val="94A3B8"/>
                </a:solidFill>
                <a:latin typeface="Segoe UI"/>
              </a:defRPr>
            </a:pPr>
            <a:r>
              <a:t>▪  Bidirectional 16kHz audio streaming via WebSockets</a:t>
            </a:r>
          </a:p>
          <a:p>
            <a:pPr>
              <a:spcAft>
                <a:spcPts val="800"/>
              </a:spcAft>
              <a:defRPr sz="1200">
                <a:solidFill>
                  <a:srgbClr val="94A3B8"/>
                </a:solidFill>
                <a:latin typeface="Segoe UI"/>
              </a:defRPr>
            </a:pPr>
            <a:r>
              <a:t>▪  Sub-second response latency with natural turn-taking</a:t>
            </a:r>
          </a:p>
          <a:p>
            <a:pPr>
              <a:spcAft>
                <a:spcPts val="800"/>
              </a:spcAft>
              <a:defRPr sz="1200">
                <a:solidFill>
                  <a:srgbClr val="94A3B8"/>
                </a:solidFill>
                <a:latin typeface="Segoe UI"/>
              </a:defRPr>
            </a:pPr>
            <a:r>
              <a:t>▪  Multilingual fluency (fluent English, Hindi, and more)</a:t>
            </a:r>
          </a:p>
          <a:p>
            <a:pPr>
              <a:spcAft>
                <a:spcPts val="800"/>
              </a:spcAft>
              <a:defRPr sz="1200">
                <a:solidFill>
                  <a:srgbClr val="94A3B8"/>
                </a:solidFill>
                <a:latin typeface="Segoe UI"/>
              </a:defRPr>
            </a:pPr>
            <a:r>
              <a:t>▪  Speech interruption support with live hardware VAD</a:t>
            </a:r>
          </a:p>
        </p:txBody>
      </p:sp>
      <p:sp>
        <p:nvSpPr>
          <p:cNvPr id="6" name="Rounded Rectangle 5"/>
          <p:cNvSpPr/>
          <p:nvPr/>
        </p:nvSpPr>
        <p:spPr>
          <a:xfrm>
            <a:off x="4389120" y="1645920"/>
            <a:ext cx="3291840" cy="411480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100" b="1">
                <a:solidFill>
                  <a:srgbClr val="00F59B"/>
                </a:solidFill>
                <a:latin typeface="Consolas"/>
              </a:defRPr>
            </a:pPr>
            <a:r>
              <a:t>// CORE PILLAR 02</a:t>
            </a:r>
          </a:p>
          <a:p>
            <a:pPr>
              <a:spcAft>
                <a:spcPts val="1400"/>
              </a:spcAft>
              <a:defRPr sz="1800" b="1">
                <a:solidFill>
                  <a:srgbClr val="FFFFFF"/>
                </a:solidFill>
                <a:latin typeface="Segoe UI"/>
              </a:defRPr>
            </a:pPr>
            <a:r>
              <a:t>Autonomous Action Engine</a:t>
            </a:r>
          </a:p>
          <a:p>
            <a:pPr>
              <a:spcAft>
                <a:spcPts val="800"/>
              </a:spcAft>
              <a:defRPr sz="1200">
                <a:solidFill>
                  <a:srgbClr val="94A3B8"/>
                </a:solidFill>
                <a:latin typeface="Segoe UI"/>
              </a:defRPr>
            </a:pPr>
            <a:r>
              <a:t>▪  Dynamic registry executing 20+ specialized system actions</a:t>
            </a:r>
          </a:p>
          <a:p>
            <a:pPr>
              <a:spcAft>
                <a:spcPts val="800"/>
              </a:spcAft>
              <a:defRPr sz="1200">
                <a:solidFill>
                  <a:srgbClr val="94A3B8"/>
                </a:solidFill>
                <a:latin typeface="Segoe UI"/>
              </a:defRPr>
            </a:pPr>
            <a:r>
              <a:t>▪  Full OS control: mouse, keyboard, brightness, process management</a:t>
            </a:r>
          </a:p>
          <a:p>
            <a:pPr>
              <a:spcAft>
                <a:spcPts val="800"/>
              </a:spcAft>
              <a:defRPr sz="1200">
                <a:solidFill>
                  <a:srgbClr val="94A3B8"/>
                </a:solidFill>
                <a:latin typeface="Segoe UI"/>
              </a:defRPr>
            </a:pPr>
            <a:r>
              <a:t>▪  Autonomous Dev Agent for writing &amp; debugging codebase</a:t>
            </a:r>
          </a:p>
          <a:p>
            <a:pPr>
              <a:spcAft>
                <a:spcPts val="800"/>
              </a:spcAft>
              <a:defRPr sz="1200">
                <a:solidFill>
                  <a:srgbClr val="94A3B8"/>
                </a:solidFill>
                <a:latin typeface="Segoe UI"/>
              </a:defRPr>
            </a:pPr>
            <a:r>
              <a:t>▪  Local web browsing, video streaming &amp; file indexing</a:t>
            </a:r>
          </a:p>
        </p:txBody>
      </p:sp>
      <p:sp>
        <p:nvSpPr>
          <p:cNvPr id="7" name="Rounded Rectangle 6"/>
          <p:cNvSpPr/>
          <p:nvPr/>
        </p:nvSpPr>
        <p:spPr>
          <a:xfrm>
            <a:off x="8046720" y="1645920"/>
            <a:ext cx="3291840" cy="4114800"/>
          </a:xfrm>
          <a:prstGeom prst="roundRect">
            <a:avLst/>
          </a:prstGeom>
          <a:solidFill>
            <a:srgbClr val="0B1426"/>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100" b="1">
                <a:solidFill>
                  <a:srgbClr val="F59E0B"/>
                </a:solidFill>
                <a:latin typeface="Consolas"/>
              </a:defRPr>
            </a:pPr>
            <a:r>
              <a:t>// CORE PILLAR 03</a:t>
            </a:r>
          </a:p>
          <a:p>
            <a:pPr>
              <a:spcAft>
                <a:spcPts val="1400"/>
              </a:spcAft>
              <a:defRPr sz="1800" b="1">
                <a:solidFill>
                  <a:srgbClr val="FFFFFF"/>
                </a:solidFill>
                <a:latin typeface="Segoe UI"/>
              </a:defRPr>
            </a:pPr>
            <a:r>
              <a:t>Zero-Trust Safety &amp; EDITH</a:t>
            </a:r>
          </a:p>
          <a:p>
            <a:pPr>
              <a:spcAft>
                <a:spcPts val="800"/>
              </a:spcAft>
              <a:defRPr sz="1200">
                <a:solidFill>
                  <a:srgbClr val="94A3B8"/>
                </a:solidFill>
                <a:latin typeface="Segoe UI"/>
              </a:defRPr>
            </a:pPr>
            <a:r>
              <a:t>▪  E.D.I.T.H. 5-Tier risk analysis on every function call</a:t>
            </a:r>
          </a:p>
          <a:p>
            <a:pPr>
              <a:spcAft>
                <a:spcPts val="800"/>
              </a:spcAft>
              <a:defRPr sz="1200">
                <a:solidFill>
                  <a:srgbClr val="94A3B8"/>
                </a:solidFill>
                <a:latin typeface="Segoe UI"/>
              </a:defRPr>
            </a:pPr>
            <a:r>
              <a:t>▪  Hardware-gated screen confirmation for high-risk actions</a:t>
            </a:r>
          </a:p>
          <a:p>
            <a:pPr>
              <a:spcAft>
                <a:spcPts val="800"/>
              </a:spcAft>
              <a:defRPr sz="1200">
                <a:solidFill>
                  <a:srgbClr val="94A3B8"/>
                </a:solidFill>
                <a:latin typeface="Segoe UI"/>
              </a:defRPr>
            </a:pPr>
            <a:r>
              <a:t>▪  Full journaled undo operations for reversible mutations</a:t>
            </a:r>
          </a:p>
          <a:p>
            <a:pPr>
              <a:spcAft>
                <a:spcPts val="800"/>
              </a:spcAft>
              <a:defRPr sz="1200">
                <a:solidFill>
                  <a:srgbClr val="94A3B8"/>
                </a:solidFill>
                <a:latin typeface="Segoe UI"/>
              </a:defRPr>
            </a:pPr>
            <a:r>
              <a:t>▪  Air-gapped blocklist forbidding unauthorized destructive tools</a:t>
            </a:r>
          </a:p>
        </p:txBody>
      </p:sp>
      <p:sp>
        <p:nvSpPr>
          <p:cNvPr id="8" name="Rounded Rectangle 7"/>
          <p:cNvSpPr/>
          <p:nvPr/>
        </p:nvSpPr>
        <p:spPr>
          <a:xfrm>
            <a:off x="731520" y="5943600"/>
            <a:ext cx="10728655" cy="594360"/>
          </a:xfrm>
          <a:prstGeom prst="roundRect">
            <a:avLst/>
          </a:prstGeom>
          <a:solidFill>
            <a:srgbClr val="0A1224"/>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0F2FE"/>
                </a:solidFill>
                <a:latin typeface="Consolas"/>
              </a:defRPr>
            </a:pPr>
            <a:r>
              <a:t>⚡ METRICS:  20+ Native Actions  |  &lt; 800ms Latency  |  5 Security Risk Tiers  |  100% Offline HUD Telemetry</a:t>
            </a:r>
          </a:p>
        </p:txBody>
      </p:sp>
    </p:spTree>
  </p:cSld>
  <p:clrMapOvr>
    <a:masterClrMapping/>
  </p:clrMapOvr>
  <mc:AlternateContent xmlns:mc="http://schemas.openxmlformats.org/markup-compatibility/2006" xmlns:p14="http://schemas.microsoft.com/office/powerpoint/2010/main">
    <mc:Choice Requires="p14">
      <p:transition spd="med" p14:dur="700">
        <p:push/>
      </p:transition>
    </mc:Choice>
    <mc:Fallback xmlns="">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3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decel="100000"/>
                                        <p:tgtEl>
                                          <p:spTgt spid="3"/>
                                        </p:tgtEl>
                                      </p:cBhvr>
                                    </p:animEffect>
                                    <p:anim calcmode="lin" valueType="num">
                                      <p:cBhvr>
                                        <p:cTn id="11" dur="400" decel="100000" fill="hold"/>
                                        <p:tgtEl>
                                          <p:spTgt spid="3"/>
                                        </p:tgtEl>
                                        <p:attrNameLst>
                                          <p:attrName>style.rotation</p:attrName>
                                        </p:attrNameLst>
                                      </p:cBhvr>
                                      <p:tavLst>
                                        <p:tav tm="0">
                                          <p:val>
                                            <p:fltVal val="-90"/>
                                          </p:val>
                                        </p:tav>
                                        <p:tav tm="100000">
                                          <p:val>
                                            <p:fltVal val="0"/>
                                          </p:val>
                                        </p:tav>
                                      </p:tavLst>
                                    </p:anim>
                                    <p:anim calcmode="lin" valueType="num">
                                      <p:cBhvr>
                                        <p:cTn id="12" dur="400" decel="100000" fill="hold"/>
                                        <p:tgtEl>
                                          <p:spTgt spid="3"/>
                                        </p:tgtEl>
                                        <p:attrNameLst>
                                          <p:attrName>ppt_x</p:attrName>
                                        </p:attrNameLst>
                                      </p:cBhvr>
                                      <p:tavLst>
                                        <p:tav tm="0">
                                          <p:val>
                                            <p:strVal val="#ppt_x+0.4"/>
                                          </p:val>
                                        </p:tav>
                                        <p:tav tm="100000">
                                          <p:val>
                                            <p:strVal val="#ppt_x-0.05"/>
                                          </p:val>
                                        </p:tav>
                                      </p:tavLst>
                                    </p:anim>
                                    <p:anim calcmode="lin" valueType="num">
                                      <p:cBhvr>
                                        <p:cTn id="13" dur="400" decel="100000" fill="hold"/>
                                        <p:tgtEl>
                                          <p:spTgt spid="3"/>
                                        </p:tgtEl>
                                        <p:attrNameLst>
                                          <p:attrName>ppt_y</p:attrName>
                                        </p:attrNameLst>
                                      </p:cBhvr>
                                      <p:tavLst>
                                        <p:tav tm="0">
                                          <p:val>
                                            <p:strVal val="#ppt_y-0.4"/>
                                          </p:val>
                                        </p:tav>
                                        <p:tav tm="100000">
                                          <p:val>
                                            <p:strVal val="#ppt_y+0.1"/>
                                          </p:val>
                                        </p:tav>
                                      </p:tavLst>
                                    </p:anim>
                                    <p:anim calcmode="lin" valueType="num">
                                      <p:cBhvr>
                                        <p:cTn id="14" dur="100" accel="100000" fill="hold">
                                          <p:stCondLst>
                                            <p:cond delay="400"/>
                                          </p:stCondLst>
                                        </p:cTn>
                                        <p:tgtEl>
                                          <p:spTgt spid="3"/>
                                        </p:tgtEl>
                                        <p:attrNameLst>
                                          <p:attrName>ppt_x</p:attrName>
                                        </p:attrNameLst>
                                      </p:cBhvr>
                                      <p:tavLst>
                                        <p:tav tm="0">
                                          <p:val>
                                            <p:strVal val="#ppt_x-0.05"/>
                                          </p:val>
                                        </p:tav>
                                        <p:tav tm="100000">
                                          <p:val>
                                            <p:strVal val="#ppt_x"/>
                                          </p:val>
                                        </p:tav>
                                      </p:tavLst>
                                    </p:anim>
                                    <p:anim calcmode="lin" valueType="num">
                                      <p:cBhvr>
                                        <p:cTn id="15" dur="100" accel="100000" fill="hold">
                                          <p:stCondLst>
                                            <p:cond delay="400"/>
                                          </p:stCondLst>
                                        </p:cTn>
                                        <p:tgtEl>
                                          <p:spTgt spid="3"/>
                                        </p:tgtEl>
                                        <p:attrNameLst>
                                          <p:attrName>ppt_y</p:attrName>
                                        </p:attrNameLst>
                                      </p:cBhvr>
                                      <p:tavLst>
                                        <p:tav tm="0">
                                          <p:val>
                                            <p:strVal val="#ppt_y+0.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childTnLst>
                                </p:cTn>
                              </p:par>
                            </p:childTnLst>
                          </p:cTn>
                        </p:par>
                        <p:par>
                          <p:cTn id="22" fill="hold">
                            <p:stCondLst>
                              <p:cond delay="500"/>
                            </p:stCondLst>
                            <p:childTnLst>
                              <p:par>
                                <p:cTn id="23" presetID="23" presetClass="entr" presetSubtype="16"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childTnLst>
                                </p:cTn>
                              </p:par>
                            </p:childTnLst>
                          </p:cTn>
                        </p:par>
                        <p:par>
                          <p:cTn id="27" fill="hold">
                            <p:stCondLst>
                              <p:cond delay="1000"/>
                            </p:stCondLst>
                            <p:childTnLst>
                              <p:par>
                                <p:cTn id="28" presetID="23" presetClass="entr" presetSubtype="16"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childTnLst>
                                </p:cTn>
                              </p:par>
                            </p:childTnLst>
                          </p:cTn>
                        </p:par>
                        <p:par>
                          <p:cTn id="32" fill="hold">
                            <p:stCondLst>
                              <p:cond delay="1500"/>
                            </p:stCondLst>
                            <p:childTnLst>
                              <p:par>
                                <p:cTn id="33" presetID="2" presetClass="entr" presetSubtype="4"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400" fill="hold"/>
                                        <p:tgtEl>
                                          <p:spTgt spid="8"/>
                                        </p:tgtEl>
                                        <p:attrNameLst>
                                          <p:attrName>ppt_x</p:attrName>
                                        </p:attrNameLst>
                                      </p:cBhvr>
                                      <p:tavLst>
                                        <p:tav tm="0">
                                          <p:val>
                                            <p:strVal val="#ppt_x"/>
                                          </p:val>
                                        </p:tav>
                                        <p:tav tm="100000">
                                          <p:val>
                                            <p:strVal val="#ppt_x"/>
                                          </p:val>
                                        </p:tav>
                                      </p:tavLst>
                                    </p:anim>
                                    <p:anim calcmode="lin" valueType="num">
                                      <p:cBhvr additive="base">
                                        <p:cTn id="36" dur="4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LIVE OPERATIONS</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rPr dirty="0"/>
              <a:t>Mission Control HUD: Real-Time Telemetry &amp; Natural Conversation</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Full-screen cybernetic interface with active sensory feedback and telemetry monitoring.</a:t>
            </a:r>
          </a:p>
        </p:txBody>
      </p:sp>
      <p:sp>
        <p:nvSpPr>
          <p:cNvPr id="5" name="Rounded Rectangle 4"/>
          <p:cNvSpPr/>
          <p:nvPr/>
        </p:nvSpPr>
        <p:spPr>
          <a:xfrm>
            <a:off x="685800" y="1600200"/>
            <a:ext cx="5852160" cy="4389120"/>
          </a:xfrm>
          <a:prstGeom prst="roundRect">
            <a:avLst/>
          </a:prstGeom>
          <a:solidFill>
            <a:srgbClr val="050A1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hud_ring_full.png"/>
          <p:cNvPicPr>
            <a:picLocks noChangeAspect="1"/>
          </p:cNvPicPr>
          <p:nvPr/>
        </p:nvPicPr>
        <p:blipFill>
          <a:blip r:embed="rId2"/>
          <a:stretch>
            <a:fillRect/>
          </a:stretch>
        </p:blipFill>
        <p:spPr>
          <a:xfrm>
            <a:off x="731520" y="1645920"/>
            <a:ext cx="5760720" cy="429768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Rounded Rectangle 6"/>
          <p:cNvSpPr/>
          <p:nvPr/>
        </p:nvSpPr>
        <p:spPr>
          <a:xfrm>
            <a:off x="6766560" y="1600200"/>
            <a:ext cx="4663440" cy="82296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00F2FE"/>
                </a:solidFill>
                <a:latin typeface="Segoe UI"/>
              </a:defRPr>
            </a:pPr>
            <a:r>
              <a:t>▶  Arc Reactor Visualizer</a:t>
            </a:r>
          </a:p>
          <a:p>
            <a:pPr>
              <a:defRPr sz="1050">
                <a:solidFill>
                  <a:srgbClr val="94A3B8"/>
                </a:solidFill>
                <a:latin typeface="Segoe UI"/>
              </a:defRPr>
            </a:pPr>
            <a:r>
              <a:t>Orbital concentric rings dynamically pulse and expand based on microphone input and speaker audio amplitude.</a:t>
            </a:r>
          </a:p>
        </p:txBody>
      </p:sp>
      <p:sp>
        <p:nvSpPr>
          <p:cNvPr id="8" name="Rounded Rectangle 7"/>
          <p:cNvSpPr/>
          <p:nvPr/>
        </p:nvSpPr>
        <p:spPr>
          <a:xfrm>
            <a:off x="6766560" y="2496312"/>
            <a:ext cx="4663440" cy="82296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00F59B"/>
                </a:solidFill>
                <a:latin typeface="Segoe UI"/>
              </a:defRPr>
            </a:pPr>
            <a:r>
              <a:t>▶  Multilingual Spoken Response</a:t>
            </a:r>
          </a:p>
          <a:p>
            <a:pPr>
              <a:defRPr sz="1050">
                <a:solidFill>
                  <a:srgbClr val="94A3B8"/>
                </a:solidFill>
                <a:latin typeface="Segoe UI"/>
              </a:defRPr>
            </a:pPr>
            <a:r>
              <a:t>Demonstrated natural Hindi conversation ('नमस्ते Pranay, 02:18 मिनट हो रहे हैं...') with zero manual language switching.</a:t>
            </a:r>
          </a:p>
        </p:txBody>
      </p:sp>
      <p:sp>
        <p:nvSpPr>
          <p:cNvPr id="9" name="Rounded Rectangle 8"/>
          <p:cNvSpPr/>
          <p:nvPr/>
        </p:nvSpPr>
        <p:spPr>
          <a:xfrm>
            <a:off x="6766560" y="3392424"/>
            <a:ext cx="4663440" cy="822960"/>
          </a:xfrm>
          <a:prstGeom prst="roundRect">
            <a:avLst/>
          </a:prstGeom>
          <a:solidFill>
            <a:srgbClr val="0B1426"/>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4FACFE"/>
                </a:solidFill>
                <a:latin typeface="Segoe UI"/>
              </a:defRPr>
            </a:pPr>
            <a:r>
              <a:t>▶  Hardware System Telemetry</a:t>
            </a:r>
          </a:p>
          <a:p>
            <a:pPr>
              <a:defRPr sz="1050">
                <a:solidFill>
                  <a:srgbClr val="94A3B8"/>
                </a:solidFill>
                <a:latin typeface="Segoe UI"/>
              </a:defRPr>
            </a:pPr>
            <a:r>
              <a:t>Real-time monitoring of CPU (19%), RAM (94%), Network I/O (1KB/s), GPU, and OS process count in the top-left monitor.</a:t>
            </a:r>
          </a:p>
        </p:txBody>
      </p:sp>
      <p:sp>
        <p:nvSpPr>
          <p:cNvPr id="10" name="Rounded Rectangle 9"/>
          <p:cNvSpPr/>
          <p:nvPr/>
        </p:nvSpPr>
        <p:spPr>
          <a:xfrm>
            <a:off x="6766560" y="4288536"/>
            <a:ext cx="4663440" cy="822960"/>
          </a:xfrm>
          <a:prstGeom prst="roundRect">
            <a:avLst/>
          </a:prstGeom>
          <a:solidFill>
            <a:srgbClr val="0B1426"/>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F59E0B"/>
                </a:solidFill>
                <a:latin typeface="Segoe UI"/>
              </a:defRPr>
            </a:pPr>
            <a:r>
              <a:t>▶  Automated News Aggregator</a:t>
            </a:r>
          </a:p>
          <a:p>
            <a:pPr>
              <a:defRPr sz="1050">
                <a:solidFill>
                  <a:srgbClr val="94A3B8"/>
                </a:solidFill>
                <a:latin typeface="Segoe UI"/>
              </a:defRPr>
            </a:pPr>
            <a:r>
              <a:t>Integrated scraping engine parsing top world headlines and displaying them in dedicated HUD widgets.</a:t>
            </a:r>
          </a:p>
        </p:txBody>
      </p:sp>
      <p:sp>
        <p:nvSpPr>
          <p:cNvPr id="11" name="Rounded Rectangle 10"/>
          <p:cNvSpPr/>
          <p:nvPr/>
        </p:nvSpPr>
        <p:spPr>
          <a:xfrm>
            <a:off x="6766560" y="5184648"/>
            <a:ext cx="4663440" cy="822960"/>
          </a:xfrm>
          <a:prstGeom prst="roundRect">
            <a:avLst/>
          </a:prstGeom>
          <a:solidFill>
            <a:srgbClr val="0B1426"/>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EF4444"/>
                </a:solidFill>
                <a:latin typeface="Segoe UI"/>
              </a:defRPr>
            </a:pPr>
            <a:r>
              <a:t>▶  Hardware Control &amp; Safety</a:t>
            </a:r>
          </a:p>
          <a:p>
            <a:pPr>
              <a:defRPr sz="1050">
                <a:solidFill>
                  <a:srgbClr val="94A3B8"/>
                </a:solidFill>
                <a:latin typeface="Segoe UI"/>
              </a:defRPr>
            </a:pPr>
            <a:r>
              <a:t>Instant physical controls: [F4] Mute, [F11] Fullscreen, [ESC] Interrupt speech, and active microphone status indicator.</a:t>
            </a:r>
          </a:p>
        </p:txBody>
      </p:sp>
    </p:spTree>
  </p:cSld>
  <p:clrMapOvr>
    <a:masterClrMapping/>
  </p:clrMapOvr>
  <mc:AlternateContent xmlns:mc="http://schemas.openxmlformats.org/markup-compatibility/2006" xmlns:p14="http://schemas.microsoft.com/office/powerpoint/2010/main">
    <mc:Choice Requires="p14">
      <p:transition spd="slow" p14:dur="800">
        <p:wedge/>
      </p:transition>
    </mc:Choice>
    <mc:Fallback xmlns="">
      <p:transition spd="slow">
        <p:wedg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800" fill="hold"/>
                                        <p:tgtEl>
                                          <p:spTgt spid="6"/>
                                        </p:tgtEl>
                                        <p:attrNameLst>
                                          <p:attrName>ppt_w</p:attrName>
                                        </p:attrNameLst>
                                      </p:cBhvr>
                                      <p:tavLst>
                                        <p:tav tm="0">
                                          <p:val>
                                            <p:fltVal val="0"/>
                                          </p:val>
                                        </p:tav>
                                        <p:tav tm="100000">
                                          <p:val>
                                            <p:strVal val="#ppt_w"/>
                                          </p:val>
                                        </p:tav>
                                      </p:tavLst>
                                    </p:anim>
                                    <p:anim calcmode="lin" valueType="num">
                                      <p:cBhvr>
                                        <p:cTn id="8" dur="80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800"/>
                            </p:stCondLst>
                            <p:childTnLst>
                              <p:par>
                                <p:cTn id="10" presetID="2" presetClass="entr" presetSubtype="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300"/>
                            </p:stCondLst>
                            <p:childTnLst>
                              <p:par>
                                <p:cTn id="15" presetID="2" presetClass="entr" presetSubtype="2"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par>
                          <p:cTn id="19" fill="hold">
                            <p:stCondLst>
                              <p:cond delay="1800"/>
                            </p:stCondLst>
                            <p:childTnLst>
                              <p:par>
                                <p:cTn id="20" presetID="2" presetClass="entr" presetSubtype="2"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1+#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childTnLst>
                          </p:cTn>
                        </p:par>
                        <p:par>
                          <p:cTn id="24" fill="hold">
                            <p:stCondLst>
                              <p:cond delay="2300"/>
                            </p:stCondLst>
                            <p:childTnLst>
                              <p:par>
                                <p:cTn id="25" presetID="2" presetClass="entr" presetSubtype="2"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par>
                          <p:cTn id="29" fill="hold">
                            <p:stCondLst>
                              <p:cond delay="2800"/>
                            </p:stCondLst>
                            <p:childTnLst>
                              <p:par>
                                <p:cTn id="30" presetID="2" presetClass="entr" presetSubtype="2"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1+#ppt_w/2"/>
                                          </p:val>
                                        </p:tav>
                                        <p:tav tm="100000">
                                          <p:val>
                                            <p:strVal val="#ppt_x"/>
                                          </p:val>
                                        </p:tav>
                                      </p:tavLst>
                                    </p:anim>
                                    <p:anim calcmode="lin" valueType="num">
                                      <p:cBhvr additive="base">
                                        <p:cTn id="3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HUD DEEP-DIVE</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 Zoom-In: Arc Reactor Core &amp; Live System Telemetry</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Zeroing into the active sensory visualizer and real-time hardware telemetry streams.</a:t>
            </a:r>
          </a:p>
        </p:txBody>
      </p:sp>
      <p:sp>
        <p:nvSpPr>
          <p:cNvPr id="5" name="Rounded Rectangle 4"/>
          <p:cNvSpPr/>
          <p:nvPr/>
        </p:nvSpPr>
        <p:spPr>
          <a:xfrm>
            <a:off x="731520" y="1645920"/>
            <a:ext cx="4754880" cy="4389120"/>
          </a:xfrm>
          <a:prstGeom prst="roundRect">
            <a:avLst/>
          </a:prstGeom>
          <a:solidFill>
            <a:srgbClr val="050A1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reactor_zoom.png"/>
          <p:cNvPicPr>
            <a:picLocks noChangeAspect="1"/>
          </p:cNvPicPr>
          <p:nvPr/>
        </p:nvPicPr>
        <p:blipFill>
          <a:blip r:embed="rId2"/>
          <a:stretch>
            <a:fillRect/>
          </a:stretch>
        </p:blipFill>
        <p:spPr>
          <a:xfrm>
            <a:off x="822960" y="1737360"/>
            <a:ext cx="4572000" cy="42062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Rounded Rectangle 6"/>
          <p:cNvSpPr/>
          <p:nvPr/>
        </p:nvSpPr>
        <p:spPr>
          <a:xfrm>
            <a:off x="5760720" y="1645920"/>
            <a:ext cx="2011680" cy="4389120"/>
          </a:xfrm>
          <a:prstGeom prst="roundRect">
            <a:avLst/>
          </a:prstGeom>
          <a:solidFill>
            <a:srgbClr val="050A14"/>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elemetry_crop.png"/>
          <p:cNvPicPr>
            <a:picLocks noChangeAspect="1"/>
          </p:cNvPicPr>
          <p:nvPr/>
        </p:nvPicPr>
        <p:blipFill>
          <a:blip r:embed="rId3"/>
          <a:stretch>
            <a:fillRect/>
          </a:stretch>
        </p:blipFill>
        <p:spPr>
          <a:xfrm>
            <a:off x="5852160" y="1737360"/>
            <a:ext cx="1828800" cy="4206240"/>
          </a:xfrm>
          <a:prstGeom prst="rect">
            <a:avLst/>
          </a:prstGeom>
        </p:spPr>
      </p:pic>
      <p:sp>
        <p:nvSpPr>
          <p:cNvPr id="9" name="Rounded Rectangle 8"/>
          <p:cNvSpPr/>
          <p:nvPr/>
        </p:nvSpPr>
        <p:spPr>
          <a:xfrm>
            <a:off x="8046720" y="1645920"/>
            <a:ext cx="3383280" cy="137160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600"/>
              </a:spcAft>
              <a:defRPr sz="1300" b="1">
                <a:solidFill>
                  <a:srgbClr val="00F2FE"/>
                </a:solidFill>
                <a:latin typeface="Segoe UI"/>
              </a:defRPr>
            </a:pPr>
            <a:r>
              <a:t>🔎  Sensory State Machine</a:t>
            </a:r>
          </a:p>
          <a:p>
            <a:pPr>
              <a:defRPr sz="1050">
                <a:solidFill>
                  <a:srgbClr val="94A3B8"/>
                </a:solidFill>
                <a:latin typeface="Segoe UI"/>
              </a:defRPr>
            </a:pPr>
            <a:r>
              <a:t>Three dynamic states: LISTENING (Green pulsating rings), PROCESSING (Cyan orbiting nodes), SPEAKING (Audio-frequency wave dilation).</a:t>
            </a:r>
          </a:p>
        </p:txBody>
      </p:sp>
      <p:sp>
        <p:nvSpPr>
          <p:cNvPr id="10" name="Rounded Rectangle 9"/>
          <p:cNvSpPr/>
          <p:nvPr/>
        </p:nvSpPr>
        <p:spPr>
          <a:xfrm>
            <a:off x="8046720" y="3154680"/>
            <a:ext cx="3383280" cy="1371600"/>
          </a:xfrm>
          <a:prstGeom prst="roundRect">
            <a:avLst/>
          </a:prstGeom>
          <a:solidFill>
            <a:srgbClr val="0B1426"/>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600"/>
              </a:spcAft>
              <a:defRPr sz="1300" b="1">
                <a:solidFill>
                  <a:srgbClr val="4FACFE"/>
                </a:solidFill>
                <a:latin typeface="Segoe UI"/>
              </a:defRPr>
            </a:pPr>
            <a:r>
              <a:t>🔎  Hardware Watchdog</a:t>
            </a:r>
          </a:p>
          <a:p>
            <a:pPr>
              <a:defRPr sz="1050">
                <a:solidFill>
                  <a:srgbClr val="94A3B8"/>
                </a:solidFill>
                <a:latin typeface="Segoe UI"/>
              </a:defRPr>
            </a:pPr>
            <a:r>
              <a:t>Direct Win32 kernel hooks reading CPU utilization (19%), RAM allocation (94%), network throughput (1KB/s), and active threads (362).</a:t>
            </a:r>
          </a:p>
        </p:txBody>
      </p:sp>
      <p:sp>
        <p:nvSpPr>
          <p:cNvPr id="11" name="Rounded Rectangle 10"/>
          <p:cNvSpPr/>
          <p:nvPr/>
        </p:nvSpPr>
        <p:spPr>
          <a:xfrm>
            <a:off x="8046720" y="4663440"/>
            <a:ext cx="3383280" cy="137160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600"/>
              </a:spcAft>
              <a:defRPr sz="1300" b="1">
                <a:solidFill>
                  <a:srgbClr val="00F59B"/>
                </a:solidFill>
                <a:latin typeface="Segoe UI"/>
              </a:defRPr>
            </a:pPr>
            <a:r>
              <a:t>🔎  Zero-Overhead HUD Loop</a:t>
            </a:r>
          </a:p>
          <a:p>
            <a:pPr>
              <a:defRPr sz="1050">
                <a:solidFill>
                  <a:srgbClr val="94A3B8"/>
                </a:solidFill>
                <a:latin typeface="Segoe UI"/>
              </a:defRPr>
            </a:pPr>
            <a:r>
              <a:t>Telemetry polling executed in asynchronous thread worker, preventing UI stutter during high computational load.</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850" fill="hold"/>
                                        <p:tgtEl>
                                          <p:spTgt spid="6"/>
                                        </p:tgtEl>
                                        <p:attrNameLst>
                                          <p:attrName>ppt_w</p:attrName>
                                        </p:attrNameLst>
                                      </p:cBhvr>
                                      <p:tavLst>
                                        <p:tav tm="0">
                                          <p:val>
                                            <p:fltVal val="0"/>
                                          </p:val>
                                        </p:tav>
                                        <p:tav tm="100000">
                                          <p:val>
                                            <p:strVal val="#ppt_w"/>
                                          </p:val>
                                        </p:tav>
                                      </p:tavLst>
                                    </p:anim>
                                    <p:anim calcmode="lin" valueType="num">
                                      <p:cBhvr>
                                        <p:cTn id="8" dur="85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850"/>
                            </p:stCondLst>
                            <p:childTnLst>
                              <p:par>
                                <p:cTn id="10" presetID="2" presetClass="entr" presetSubtype="1"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par>
                          <p:cTn id="14" fill="hold">
                            <p:stCondLst>
                              <p:cond delay="1350"/>
                            </p:stCondLst>
                            <p:childTnLst>
                              <p:par>
                                <p:cTn id="15" presetID="3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20" decel="100000"/>
                                        <p:tgtEl>
                                          <p:spTgt spid="9"/>
                                        </p:tgtEl>
                                      </p:cBhvr>
                                    </p:animEffect>
                                    <p:anim calcmode="lin" valueType="num">
                                      <p:cBhvr>
                                        <p:cTn id="18" dur="320" decel="100000" fill="hold"/>
                                        <p:tgtEl>
                                          <p:spTgt spid="9"/>
                                        </p:tgtEl>
                                        <p:attrNameLst>
                                          <p:attrName>style.rotation</p:attrName>
                                        </p:attrNameLst>
                                      </p:cBhvr>
                                      <p:tavLst>
                                        <p:tav tm="0">
                                          <p:val>
                                            <p:fltVal val="-90"/>
                                          </p:val>
                                        </p:tav>
                                        <p:tav tm="100000">
                                          <p:val>
                                            <p:fltVal val="0"/>
                                          </p:val>
                                        </p:tav>
                                      </p:tavLst>
                                    </p:anim>
                                    <p:anim calcmode="lin" valueType="num">
                                      <p:cBhvr>
                                        <p:cTn id="19" dur="320" decel="100000" fill="hold"/>
                                        <p:tgtEl>
                                          <p:spTgt spid="9"/>
                                        </p:tgtEl>
                                        <p:attrNameLst>
                                          <p:attrName>ppt_x</p:attrName>
                                        </p:attrNameLst>
                                      </p:cBhvr>
                                      <p:tavLst>
                                        <p:tav tm="0">
                                          <p:val>
                                            <p:strVal val="#ppt_x+0.4"/>
                                          </p:val>
                                        </p:tav>
                                        <p:tav tm="100000">
                                          <p:val>
                                            <p:strVal val="#ppt_x-0.05"/>
                                          </p:val>
                                        </p:tav>
                                      </p:tavLst>
                                    </p:anim>
                                    <p:anim calcmode="lin" valueType="num">
                                      <p:cBhvr>
                                        <p:cTn id="20" dur="320" decel="100000" fill="hold"/>
                                        <p:tgtEl>
                                          <p:spTgt spid="9"/>
                                        </p:tgtEl>
                                        <p:attrNameLst>
                                          <p:attrName>ppt_y</p:attrName>
                                        </p:attrNameLst>
                                      </p:cBhvr>
                                      <p:tavLst>
                                        <p:tav tm="0">
                                          <p:val>
                                            <p:strVal val="#ppt_y-0.4"/>
                                          </p:val>
                                        </p:tav>
                                        <p:tav tm="100000">
                                          <p:val>
                                            <p:strVal val="#ppt_y+0.1"/>
                                          </p:val>
                                        </p:tav>
                                      </p:tavLst>
                                    </p:anim>
                                    <p:anim calcmode="lin" valueType="num">
                                      <p:cBhvr>
                                        <p:cTn id="21" dur="80" accel="100000" fill="hold">
                                          <p:stCondLst>
                                            <p:cond delay="320"/>
                                          </p:stCondLst>
                                        </p:cTn>
                                        <p:tgtEl>
                                          <p:spTgt spid="9"/>
                                        </p:tgtEl>
                                        <p:attrNameLst>
                                          <p:attrName>ppt_x</p:attrName>
                                        </p:attrNameLst>
                                      </p:cBhvr>
                                      <p:tavLst>
                                        <p:tav tm="0">
                                          <p:val>
                                            <p:strVal val="#ppt_x-0.05"/>
                                          </p:val>
                                        </p:tav>
                                        <p:tav tm="100000">
                                          <p:val>
                                            <p:strVal val="#ppt_x"/>
                                          </p:val>
                                        </p:tav>
                                      </p:tavLst>
                                    </p:anim>
                                    <p:anim calcmode="lin" valueType="num">
                                      <p:cBhvr>
                                        <p:cTn id="22" dur="80" accel="100000" fill="hold">
                                          <p:stCondLst>
                                            <p:cond delay="320"/>
                                          </p:stCondLst>
                                        </p:cTn>
                                        <p:tgtEl>
                                          <p:spTgt spid="9"/>
                                        </p:tgtEl>
                                        <p:attrNameLst>
                                          <p:attrName>ppt_y</p:attrName>
                                        </p:attrNameLst>
                                      </p:cBhvr>
                                      <p:tavLst>
                                        <p:tav tm="0">
                                          <p:val>
                                            <p:strVal val="#ppt_y+0.1"/>
                                          </p:val>
                                        </p:tav>
                                        <p:tav tm="100000">
                                          <p:val>
                                            <p:strVal val="#ppt_y"/>
                                          </p:val>
                                        </p:tav>
                                      </p:tavLst>
                                    </p:anim>
                                  </p:childTnLst>
                                </p:cTn>
                              </p:par>
                            </p:childTnLst>
                          </p:cTn>
                        </p:par>
                        <p:par>
                          <p:cTn id="23" fill="hold">
                            <p:stCondLst>
                              <p:cond delay="1750"/>
                            </p:stCondLst>
                            <p:childTnLst>
                              <p:par>
                                <p:cTn id="24" presetID="3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20" decel="100000"/>
                                        <p:tgtEl>
                                          <p:spTgt spid="10"/>
                                        </p:tgtEl>
                                      </p:cBhvr>
                                    </p:animEffect>
                                    <p:anim calcmode="lin" valueType="num">
                                      <p:cBhvr>
                                        <p:cTn id="27" dur="320" decel="100000" fill="hold"/>
                                        <p:tgtEl>
                                          <p:spTgt spid="10"/>
                                        </p:tgtEl>
                                        <p:attrNameLst>
                                          <p:attrName>style.rotation</p:attrName>
                                        </p:attrNameLst>
                                      </p:cBhvr>
                                      <p:tavLst>
                                        <p:tav tm="0">
                                          <p:val>
                                            <p:fltVal val="-90"/>
                                          </p:val>
                                        </p:tav>
                                        <p:tav tm="100000">
                                          <p:val>
                                            <p:fltVal val="0"/>
                                          </p:val>
                                        </p:tav>
                                      </p:tavLst>
                                    </p:anim>
                                    <p:anim calcmode="lin" valueType="num">
                                      <p:cBhvr>
                                        <p:cTn id="28" dur="320" decel="100000" fill="hold"/>
                                        <p:tgtEl>
                                          <p:spTgt spid="10"/>
                                        </p:tgtEl>
                                        <p:attrNameLst>
                                          <p:attrName>ppt_x</p:attrName>
                                        </p:attrNameLst>
                                      </p:cBhvr>
                                      <p:tavLst>
                                        <p:tav tm="0">
                                          <p:val>
                                            <p:strVal val="#ppt_x+0.4"/>
                                          </p:val>
                                        </p:tav>
                                        <p:tav tm="100000">
                                          <p:val>
                                            <p:strVal val="#ppt_x-0.05"/>
                                          </p:val>
                                        </p:tav>
                                      </p:tavLst>
                                    </p:anim>
                                    <p:anim calcmode="lin" valueType="num">
                                      <p:cBhvr>
                                        <p:cTn id="29" dur="320" decel="100000" fill="hold"/>
                                        <p:tgtEl>
                                          <p:spTgt spid="10"/>
                                        </p:tgtEl>
                                        <p:attrNameLst>
                                          <p:attrName>ppt_y</p:attrName>
                                        </p:attrNameLst>
                                      </p:cBhvr>
                                      <p:tavLst>
                                        <p:tav tm="0">
                                          <p:val>
                                            <p:strVal val="#ppt_y-0.4"/>
                                          </p:val>
                                        </p:tav>
                                        <p:tav tm="100000">
                                          <p:val>
                                            <p:strVal val="#ppt_y+0.1"/>
                                          </p:val>
                                        </p:tav>
                                      </p:tavLst>
                                    </p:anim>
                                    <p:anim calcmode="lin" valueType="num">
                                      <p:cBhvr>
                                        <p:cTn id="30" dur="80" accel="100000" fill="hold">
                                          <p:stCondLst>
                                            <p:cond delay="320"/>
                                          </p:stCondLst>
                                        </p:cTn>
                                        <p:tgtEl>
                                          <p:spTgt spid="10"/>
                                        </p:tgtEl>
                                        <p:attrNameLst>
                                          <p:attrName>ppt_x</p:attrName>
                                        </p:attrNameLst>
                                      </p:cBhvr>
                                      <p:tavLst>
                                        <p:tav tm="0">
                                          <p:val>
                                            <p:strVal val="#ppt_x-0.05"/>
                                          </p:val>
                                        </p:tav>
                                        <p:tav tm="100000">
                                          <p:val>
                                            <p:strVal val="#ppt_x"/>
                                          </p:val>
                                        </p:tav>
                                      </p:tavLst>
                                    </p:anim>
                                    <p:anim calcmode="lin" valueType="num">
                                      <p:cBhvr>
                                        <p:cTn id="31" dur="80" accel="100000" fill="hold">
                                          <p:stCondLst>
                                            <p:cond delay="320"/>
                                          </p:stCondLst>
                                        </p:cTn>
                                        <p:tgtEl>
                                          <p:spTgt spid="10"/>
                                        </p:tgtEl>
                                        <p:attrNameLst>
                                          <p:attrName>ppt_y</p:attrName>
                                        </p:attrNameLst>
                                      </p:cBhvr>
                                      <p:tavLst>
                                        <p:tav tm="0">
                                          <p:val>
                                            <p:strVal val="#ppt_y+0.1"/>
                                          </p:val>
                                        </p:tav>
                                        <p:tav tm="100000">
                                          <p:val>
                                            <p:strVal val="#ppt_y"/>
                                          </p:val>
                                        </p:tav>
                                      </p:tavLst>
                                    </p:anim>
                                  </p:childTnLst>
                                </p:cTn>
                              </p:par>
                            </p:childTnLst>
                          </p:cTn>
                        </p:par>
                        <p:par>
                          <p:cTn id="32" fill="hold">
                            <p:stCondLst>
                              <p:cond delay="2150"/>
                            </p:stCondLst>
                            <p:childTnLst>
                              <p:par>
                                <p:cTn id="33" presetID="3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320" decel="100000"/>
                                        <p:tgtEl>
                                          <p:spTgt spid="11"/>
                                        </p:tgtEl>
                                      </p:cBhvr>
                                    </p:animEffect>
                                    <p:anim calcmode="lin" valueType="num">
                                      <p:cBhvr>
                                        <p:cTn id="36" dur="320" decel="100000" fill="hold"/>
                                        <p:tgtEl>
                                          <p:spTgt spid="11"/>
                                        </p:tgtEl>
                                        <p:attrNameLst>
                                          <p:attrName>style.rotation</p:attrName>
                                        </p:attrNameLst>
                                      </p:cBhvr>
                                      <p:tavLst>
                                        <p:tav tm="0">
                                          <p:val>
                                            <p:fltVal val="-90"/>
                                          </p:val>
                                        </p:tav>
                                        <p:tav tm="100000">
                                          <p:val>
                                            <p:fltVal val="0"/>
                                          </p:val>
                                        </p:tav>
                                      </p:tavLst>
                                    </p:anim>
                                    <p:anim calcmode="lin" valueType="num">
                                      <p:cBhvr>
                                        <p:cTn id="37" dur="320" decel="100000" fill="hold"/>
                                        <p:tgtEl>
                                          <p:spTgt spid="11"/>
                                        </p:tgtEl>
                                        <p:attrNameLst>
                                          <p:attrName>ppt_x</p:attrName>
                                        </p:attrNameLst>
                                      </p:cBhvr>
                                      <p:tavLst>
                                        <p:tav tm="0">
                                          <p:val>
                                            <p:strVal val="#ppt_x+0.4"/>
                                          </p:val>
                                        </p:tav>
                                        <p:tav tm="100000">
                                          <p:val>
                                            <p:strVal val="#ppt_x-0.05"/>
                                          </p:val>
                                        </p:tav>
                                      </p:tavLst>
                                    </p:anim>
                                    <p:anim calcmode="lin" valueType="num">
                                      <p:cBhvr>
                                        <p:cTn id="38" dur="320" decel="100000" fill="hold"/>
                                        <p:tgtEl>
                                          <p:spTgt spid="11"/>
                                        </p:tgtEl>
                                        <p:attrNameLst>
                                          <p:attrName>ppt_y</p:attrName>
                                        </p:attrNameLst>
                                      </p:cBhvr>
                                      <p:tavLst>
                                        <p:tav tm="0">
                                          <p:val>
                                            <p:strVal val="#ppt_y-0.4"/>
                                          </p:val>
                                        </p:tav>
                                        <p:tav tm="100000">
                                          <p:val>
                                            <p:strVal val="#ppt_y+0.1"/>
                                          </p:val>
                                        </p:tav>
                                      </p:tavLst>
                                    </p:anim>
                                    <p:anim calcmode="lin" valueType="num">
                                      <p:cBhvr>
                                        <p:cTn id="39" dur="80" accel="100000" fill="hold">
                                          <p:stCondLst>
                                            <p:cond delay="320"/>
                                          </p:stCondLst>
                                        </p:cTn>
                                        <p:tgtEl>
                                          <p:spTgt spid="11"/>
                                        </p:tgtEl>
                                        <p:attrNameLst>
                                          <p:attrName>ppt_x</p:attrName>
                                        </p:attrNameLst>
                                      </p:cBhvr>
                                      <p:tavLst>
                                        <p:tav tm="0">
                                          <p:val>
                                            <p:strVal val="#ppt_x-0.05"/>
                                          </p:val>
                                        </p:tav>
                                        <p:tav tm="100000">
                                          <p:val>
                                            <p:strVal val="#ppt_x"/>
                                          </p:val>
                                        </p:tav>
                                      </p:tavLst>
                                    </p:anim>
                                    <p:anim calcmode="lin" valueType="num">
                                      <p:cBhvr>
                                        <p:cTn id="40" dur="80" accel="100000" fill="hold">
                                          <p:stCondLst>
                                            <p:cond delay="32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INTELLIGENCE DEEP-DIVE</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 Zoom-In: Natural Multilingual Dialogue &amp; Breaking News</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Inspecting FRIDAY's fluent Hindi conversational output and integrated live intelligence.</a:t>
            </a:r>
          </a:p>
        </p:txBody>
      </p:sp>
      <p:sp>
        <p:nvSpPr>
          <p:cNvPr id="5" name="Rounded Rectangle 4"/>
          <p:cNvSpPr/>
          <p:nvPr/>
        </p:nvSpPr>
        <p:spPr>
          <a:xfrm>
            <a:off x="731520" y="1645920"/>
            <a:ext cx="5486400" cy="4389120"/>
          </a:xfrm>
          <a:prstGeom prst="roundRect">
            <a:avLst/>
          </a:prstGeom>
          <a:solidFill>
            <a:srgbClr val="050A14"/>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ctivity_log_zoom.png"/>
          <p:cNvPicPr>
            <a:picLocks noChangeAspect="1"/>
          </p:cNvPicPr>
          <p:nvPr/>
        </p:nvPicPr>
        <p:blipFill>
          <a:blip r:embed="rId2"/>
          <a:stretch>
            <a:fillRect/>
          </a:stretch>
        </p:blipFill>
        <p:spPr>
          <a:xfrm>
            <a:off x="822960" y="1737360"/>
            <a:ext cx="5303520" cy="4206240"/>
          </a:xfrm>
          <a:prstGeom prst="rect">
            <a:avLst/>
          </a:prstGeom>
        </p:spPr>
      </p:pic>
      <p:sp>
        <p:nvSpPr>
          <p:cNvPr id="7" name="Rounded Rectangle 6"/>
          <p:cNvSpPr/>
          <p:nvPr/>
        </p:nvSpPr>
        <p:spPr>
          <a:xfrm>
            <a:off x="6492240" y="1645920"/>
            <a:ext cx="4937760" cy="256032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spcAft>
                <a:spcPts val="800"/>
              </a:spcAft>
              <a:defRPr sz="1300" b="1">
                <a:solidFill>
                  <a:srgbClr val="00F2FE"/>
                </a:solidFill>
                <a:latin typeface="Consolas"/>
              </a:defRPr>
            </a:pPr>
            <a:r>
              <a:t>💬  VERIFIED LIVE TRANSCRIPT IN HUD</a:t>
            </a:r>
          </a:p>
          <a:p>
            <a:pPr>
              <a:spcAft>
                <a:spcPts val="1000"/>
              </a:spcAft>
              <a:defRPr sz="1100">
                <a:solidFill>
                  <a:srgbClr val="FFFFFF"/>
                </a:solidFill>
                <a:latin typeface="Segoe UI"/>
              </a:defRPr>
            </a:pPr>
            <a:r>
              <a:t>FRIDAY: "नमस्ते Pranay, 02:18 मिनट हो रहे हैं और मैं आपके लिए आज की ख़बरें ला रही हूँ। कल आपने एक प्रस्ताव वेबसाइट बनवाई और बाकी चीज़ों पर बात करके सिस्टम बंद करने कहा था। रियाद एयरपोर्ट पर हमले की दुनिया भर में निंदा हुई है..."</a:t>
            </a:r>
          </a:p>
          <a:p>
            <a:pPr>
              <a:defRPr sz="1050">
                <a:solidFill>
                  <a:srgbClr val="00F59B"/>
                </a:solidFill>
                <a:latin typeface="Segoe UI"/>
              </a:defRPr>
            </a:pPr>
            <a:r>
              <a:t>✔ Multi-Turn Context Retention: Remembers yesterday's website proposal</a:t>
            </a:r>
            <a:br/>
            <a:r>
              <a:t>✔ Real-Time Temporal Awareness: Knows exact time (02:18) and system state</a:t>
            </a:r>
            <a:br/>
            <a:r>
              <a:t>✔ Zero Latency Translation: Native Hindi voice generation without token pauses</a:t>
            </a:r>
          </a:p>
        </p:txBody>
      </p:sp>
      <p:sp>
        <p:nvSpPr>
          <p:cNvPr id="8" name="Rounded Rectangle 7"/>
          <p:cNvSpPr/>
          <p:nvPr/>
        </p:nvSpPr>
        <p:spPr>
          <a:xfrm>
            <a:off x="6492240" y="4389120"/>
            <a:ext cx="4937760" cy="1645920"/>
          </a:xfrm>
          <a:prstGeom prst="roundRect">
            <a:avLst/>
          </a:prstGeom>
          <a:solidFill>
            <a:srgbClr val="0B1426"/>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spcAft>
                <a:spcPts val="600"/>
              </a:spcAft>
              <a:defRPr sz="1300" b="1">
                <a:solidFill>
                  <a:srgbClr val="F59E0B"/>
                </a:solidFill>
                <a:latin typeface="Consolas"/>
              </a:defRPr>
            </a:pPr>
            <a:r>
              <a:t>🌐  LIVE NEWS SYNTHESIS ENGINE</a:t>
            </a:r>
          </a:p>
          <a:p>
            <a:pPr>
              <a:defRPr sz="1050">
                <a:solidFill>
                  <a:srgbClr val="94A3B8"/>
                </a:solidFill>
                <a:latin typeface="Segoe UI"/>
              </a:defRPr>
            </a:pPr>
            <a:r>
              <a:t>Live feeds parsed from Bing News &amp; global wire services into concise bullet points. Links and headlines rendered into the HUD with one-click dismiss.</a:t>
            </a:r>
          </a:p>
        </p:txBody>
      </p:sp>
    </p:spTree>
  </p:cSld>
  <p:clrMapOvr>
    <a:masterClrMapping/>
  </p:clrMapOvr>
  <mc:AlternateContent xmlns:mc="http://schemas.openxmlformats.org/markup-compatibility/2006" xmlns:p14="http://schemas.microsoft.com/office/powerpoint/2010/main">
    <mc:Choice Requires="p14">
      <p:transition spd="med" p14:dur="700">
        <p:push/>
      </p:transition>
    </mc:Choice>
    <mc:Fallback xmlns="">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00" fill="hold"/>
                                        <p:tgtEl>
                                          <p:spTgt spid="6"/>
                                        </p:tgtEl>
                                        <p:attrNameLst>
                                          <p:attrName>ppt_w</p:attrName>
                                        </p:attrNameLst>
                                      </p:cBhvr>
                                      <p:tavLst>
                                        <p:tav tm="0">
                                          <p:val>
                                            <p:fltVal val="0"/>
                                          </p:val>
                                        </p:tav>
                                        <p:tav tm="100000">
                                          <p:val>
                                            <p:strVal val="#ppt_w"/>
                                          </p:val>
                                        </p:tav>
                                      </p:tavLst>
                                    </p:anim>
                                    <p:anim calcmode="lin" valueType="num">
                                      <p:cBhvr>
                                        <p:cTn id="8" dur="70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700"/>
                            </p:stCondLst>
                            <p:childTnLst>
                              <p:par>
                                <p:cTn id="10" presetID="3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80" decel="100000"/>
                                        <p:tgtEl>
                                          <p:spTgt spid="7"/>
                                        </p:tgtEl>
                                      </p:cBhvr>
                                    </p:animEffect>
                                    <p:anim calcmode="lin" valueType="num">
                                      <p:cBhvr>
                                        <p:cTn id="13" dur="480" decel="100000" fill="hold"/>
                                        <p:tgtEl>
                                          <p:spTgt spid="7"/>
                                        </p:tgtEl>
                                        <p:attrNameLst>
                                          <p:attrName>style.rotation</p:attrName>
                                        </p:attrNameLst>
                                      </p:cBhvr>
                                      <p:tavLst>
                                        <p:tav tm="0">
                                          <p:val>
                                            <p:fltVal val="-90"/>
                                          </p:val>
                                        </p:tav>
                                        <p:tav tm="100000">
                                          <p:val>
                                            <p:fltVal val="0"/>
                                          </p:val>
                                        </p:tav>
                                      </p:tavLst>
                                    </p:anim>
                                    <p:anim calcmode="lin" valueType="num">
                                      <p:cBhvr>
                                        <p:cTn id="14" dur="480" decel="100000" fill="hold"/>
                                        <p:tgtEl>
                                          <p:spTgt spid="7"/>
                                        </p:tgtEl>
                                        <p:attrNameLst>
                                          <p:attrName>ppt_x</p:attrName>
                                        </p:attrNameLst>
                                      </p:cBhvr>
                                      <p:tavLst>
                                        <p:tav tm="0">
                                          <p:val>
                                            <p:strVal val="#ppt_x+0.4"/>
                                          </p:val>
                                        </p:tav>
                                        <p:tav tm="100000">
                                          <p:val>
                                            <p:strVal val="#ppt_x-0.05"/>
                                          </p:val>
                                        </p:tav>
                                      </p:tavLst>
                                    </p:anim>
                                    <p:anim calcmode="lin" valueType="num">
                                      <p:cBhvr>
                                        <p:cTn id="15" dur="480" decel="100000" fill="hold"/>
                                        <p:tgtEl>
                                          <p:spTgt spid="7"/>
                                        </p:tgtEl>
                                        <p:attrNameLst>
                                          <p:attrName>ppt_y</p:attrName>
                                        </p:attrNameLst>
                                      </p:cBhvr>
                                      <p:tavLst>
                                        <p:tav tm="0">
                                          <p:val>
                                            <p:strVal val="#ppt_y-0.4"/>
                                          </p:val>
                                        </p:tav>
                                        <p:tav tm="100000">
                                          <p:val>
                                            <p:strVal val="#ppt_y+0.1"/>
                                          </p:val>
                                        </p:tav>
                                      </p:tavLst>
                                    </p:anim>
                                    <p:anim calcmode="lin" valueType="num">
                                      <p:cBhvr>
                                        <p:cTn id="16" dur="120" accel="100000" fill="hold">
                                          <p:stCondLst>
                                            <p:cond delay="480"/>
                                          </p:stCondLst>
                                        </p:cTn>
                                        <p:tgtEl>
                                          <p:spTgt spid="7"/>
                                        </p:tgtEl>
                                        <p:attrNameLst>
                                          <p:attrName>ppt_x</p:attrName>
                                        </p:attrNameLst>
                                      </p:cBhvr>
                                      <p:tavLst>
                                        <p:tav tm="0">
                                          <p:val>
                                            <p:strVal val="#ppt_x-0.05"/>
                                          </p:val>
                                        </p:tav>
                                        <p:tav tm="100000">
                                          <p:val>
                                            <p:strVal val="#ppt_x"/>
                                          </p:val>
                                        </p:tav>
                                      </p:tavLst>
                                    </p:anim>
                                    <p:anim calcmode="lin" valueType="num">
                                      <p:cBhvr>
                                        <p:cTn id="17" dur="120" accel="100000" fill="hold">
                                          <p:stCondLst>
                                            <p:cond delay="480"/>
                                          </p:stCondLst>
                                        </p:cTn>
                                        <p:tgtEl>
                                          <p:spTgt spid="7"/>
                                        </p:tgtEl>
                                        <p:attrNameLst>
                                          <p:attrName>ppt_y</p:attrName>
                                        </p:attrNameLst>
                                      </p:cBhvr>
                                      <p:tavLst>
                                        <p:tav tm="0">
                                          <p:val>
                                            <p:strVal val="#ppt_y+0.1"/>
                                          </p:val>
                                        </p:tav>
                                        <p:tav tm="100000">
                                          <p:val>
                                            <p:strVal val="#ppt_y"/>
                                          </p:val>
                                        </p:tav>
                                      </p:tavLst>
                                    </p:anim>
                                  </p:childTnLst>
                                </p:cTn>
                              </p:par>
                            </p:childTnLst>
                          </p:cTn>
                        </p:par>
                        <p:par>
                          <p:cTn id="18" fill="hold">
                            <p:stCondLst>
                              <p:cond delay="1300"/>
                            </p:stCondLst>
                            <p:childTnLst>
                              <p:par>
                                <p:cTn id="19" presetID="2" presetClass="entr" presetSubtype="8"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0-#ppt_w/2"/>
                                          </p:val>
                                        </p:tav>
                                        <p:tav tm="100000">
                                          <p:val>
                                            <p:strVal val="#ppt_x"/>
                                          </p:val>
                                        </p:tav>
                                      </p:tavLst>
                                    </p:anim>
                                    <p:anim calcmode="lin" valueType="num">
                                      <p:cBhvr additive="base">
                                        <p:cTn id="2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AI PERSONA</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Living Persona: 3D Holographic Wireframe Facial Avatar</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Seamlessly morphs between Arc Reactor rings and an expressive 3D wireframe face mesh.</a:t>
            </a:r>
          </a:p>
        </p:txBody>
      </p:sp>
      <p:sp>
        <p:nvSpPr>
          <p:cNvPr id="5" name="Rounded Rectangle 4"/>
          <p:cNvSpPr/>
          <p:nvPr/>
        </p:nvSpPr>
        <p:spPr>
          <a:xfrm>
            <a:off x="685800" y="1600200"/>
            <a:ext cx="5852160" cy="4389120"/>
          </a:xfrm>
          <a:prstGeom prst="roundRect">
            <a:avLst/>
          </a:prstGeom>
          <a:solidFill>
            <a:srgbClr val="050A1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hud_face_full.png"/>
          <p:cNvPicPr>
            <a:picLocks noChangeAspect="1"/>
          </p:cNvPicPr>
          <p:nvPr/>
        </p:nvPicPr>
        <p:blipFill>
          <a:blip r:embed="rId2"/>
          <a:stretch>
            <a:fillRect/>
          </a:stretch>
        </p:blipFill>
        <p:spPr>
          <a:xfrm>
            <a:off x="731520" y="1645920"/>
            <a:ext cx="5760720" cy="429768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Rounded Rectangle 6"/>
          <p:cNvSpPr/>
          <p:nvPr/>
        </p:nvSpPr>
        <p:spPr>
          <a:xfrm>
            <a:off x="6766560" y="1600200"/>
            <a:ext cx="4663440" cy="82296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00F2FE"/>
                </a:solidFill>
                <a:latin typeface="Segoe UI"/>
              </a:defRPr>
            </a:pPr>
            <a:r>
              <a:t>✦  WebGL &amp; Three.js Canvas</a:t>
            </a:r>
          </a:p>
          <a:p>
            <a:pPr>
              <a:defRPr sz="1050">
                <a:solidFill>
                  <a:srgbClr val="94A3B8"/>
                </a:solidFill>
                <a:latin typeface="Segoe UI"/>
              </a:defRPr>
            </a:pPr>
            <a:r>
              <a:t>Real-time polygonal mesh head modeled with futuristic cyan wireframes and deep ambient shading, rendered directly inside the GUI.</a:t>
            </a:r>
          </a:p>
        </p:txBody>
      </p:sp>
      <p:sp>
        <p:nvSpPr>
          <p:cNvPr id="8" name="Rounded Rectangle 7"/>
          <p:cNvSpPr/>
          <p:nvPr/>
        </p:nvSpPr>
        <p:spPr>
          <a:xfrm>
            <a:off x="6766560" y="2496312"/>
            <a:ext cx="4663440" cy="82296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00F59B"/>
                </a:solidFill>
                <a:latin typeface="Segoe UI"/>
              </a:defRPr>
            </a:pPr>
            <a:r>
              <a:t>✦  Audio-Driven Phoneme Lip Sync</a:t>
            </a:r>
          </a:p>
          <a:p>
            <a:pPr>
              <a:defRPr sz="1050">
                <a:solidFill>
                  <a:srgbClr val="94A3B8"/>
                </a:solidFill>
                <a:latin typeface="Segoe UI"/>
              </a:defRPr>
            </a:pPr>
            <a:r>
              <a:t>Voice output stream is split into amplitude and frequency bands to drive realistic procedural mouth open/close and articulation.</a:t>
            </a:r>
          </a:p>
        </p:txBody>
      </p:sp>
      <p:sp>
        <p:nvSpPr>
          <p:cNvPr id="9" name="Rounded Rectangle 8"/>
          <p:cNvSpPr/>
          <p:nvPr/>
        </p:nvSpPr>
        <p:spPr>
          <a:xfrm>
            <a:off x="6766560" y="3392424"/>
            <a:ext cx="4663440" cy="822960"/>
          </a:xfrm>
          <a:prstGeom prst="roundRect">
            <a:avLst/>
          </a:prstGeom>
          <a:solidFill>
            <a:srgbClr val="0B1426"/>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4FACFE"/>
                </a:solidFill>
                <a:latin typeface="Segoe UI"/>
              </a:defRPr>
            </a:pPr>
            <a:r>
              <a:t>✦  Dynamic Mode Switching</a:t>
            </a:r>
          </a:p>
          <a:p>
            <a:pPr>
              <a:defRPr sz="1050">
                <a:solidFill>
                  <a:srgbClr val="94A3B8"/>
                </a:solidFill>
                <a:latin typeface="Segoe UI"/>
              </a:defRPr>
            </a:pPr>
            <a:r>
              <a:t>Console log confirms: 'SYS: HUD switched to the animated face.' User can switch between minimalist ring and 3D face on command.</a:t>
            </a:r>
          </a:p>
        </p:txBody>
      </p:sp>
      <p:sp>
        <p:nvSpPr>
          <p:cNvPr id="10" name="Rounded Rectangle 9"/>
          <p:cNvSpPr/>
          <p:nvPr/>
        </p:nvSpPr>
        <p:spPr>
          <a:xfrm>
            <a:off x="6766560" y="4288536"/>
            <a:ext cx="4663440" cy="822960"/>
          </a:xfrm>
          <a:prstGeom prst="roundRect">
            <a:avLst/>
          </a:prstGeom>
          <a:solidFill>
            <a:srgbClr val="0B1426"/>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F59E0B"/>
                </a:solidFill>
                <a:latin typeface="Segoe UI"/>
              </a:defRPr>
            </a:pPr>
            <a:r>
              <a:t>✦  Emotive Cybernetic Optics</a:t>
            </a:r>
          </a:p>
          <a:p>
            <a:pPr>
              <a:defRPr sz="1050">
                <a:solidFill>
                  <a:srgbClr val="94A3B8"/>
                </a:solidFill>
                <a:latin typeface="Segoe UI"/>
              </a:defRPr>
            </a:pPr>
            <a:r>
              <a:t>Glowing green ocular nodes react to user gaze, processing states, and system notifications with realistic focus shifts.</a:t>
            </a:r>
          </a:p>
        </p:txBody>
      </p:sp>
      <p:sp>
        <p:nvSpPr>
          <p:cNvPr id="11" name="Rounded Rectangle 10"/>
          <p:cNvSpPr/>
          <p:nvPr/>
        </p:nvSpPr>
        <p:spPr>
          <a:xfrm>
            <a:off x="6766560" y="5184648"/>
            <a:ext cx="4663440" cy="822960"/>
          </a:xfrm>
          <a:prstGeom prst="roundRect">
            <a:avLst/>
          </a:prstGeom>
          <a:solidFill>
            <a:srgbClr val="0B1426"/>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defRPr sz="1300" b="1">
                <a:solidFill>
                  <a:srgbClr val="A855F7"/>
                </a:solidFill>
                <a:latin typeface="Segoe UI"/>
              </a:defRPr>
            </a:pPr>
            <a:r>
              <a:t>✦  Zero Performance Overhead</a:t>
            </a:r>
          </a:p>
          <a:p>
            <a:pPr>
              <a:defRPr sz="1050">
                <a:solidFill>
                  <a:srgbClr val="94A3B8"/>
                </a:solidFill>
                <a:latin typeface="Segoe UI"/>
              </a:defRPr>
            </a:pPr>
            <a:r>
              <a:t>Lightweight geometry optimized to maintain 60 FPS animation without impacting background agent operations.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800" fill="hold"/>
                                        <p:tgtEl>
                                          <p:spTgt spid="6"/>
                                        </p:tgtEl>
                                        <p:attrNameLst>
                                          <p:attrName>ppt_w</p:attrName>
                                        </p:attrNameLst>
                                      </p:cBhvr>
                                      <p:tavLst>
                                        <p:tav tm="0">
                                          <p:val>
                                            <p:fltVal val="0"/>
                                          </p:val>
                                        </p:tav>
                                        <p:tav tm="100000">
                                          <p:val>
                                            <p:strVal val="#ppt_w"/>
                                          </p:val>
                                        </p:tav>
                                      </p:tavLst>
                                    </p:anim>
                                    <p:anim calcmode="lin" valueType="num">
                                      <p:cBhvr>
                                        <p:cTn id="8" dur="80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800"/>
                            </p:stCondLst>
                            <p:childTnLst>
                              <p:par>
                                <p:cTn id="10" presetID="2" presetClass="entr" presetSubtype="2"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300"/>
                            </p:stCondLst>
                            <p:childTnLst>
                              <p:par>
                                <p:cTn id="15" presetID="2" presetClass="entr" presetSubtype="2"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par>
                          <p:cTn id="19" fill="hold">
                            <p:stCondLst>
                              <p:cond delay="1800"/>
                            </p:stCondLst>
                            <p:childTnLst>
                              <p:par>
                                <p:cTn id="20" presetID="2" presetClass="entr" presetSubtype="2"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1+#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childTnLst>
                          </p:cTn>
                        </p:par>
                        <p:par>
                          <p:cTn id="24" fill="hold">
                            <p:stCondLst>
                              <p:cond delay="2300"/>
                            </p:stCondLst>
                            <p:childTnLst>
                              <p:par>
                                <p:cTn id="25" presetID="2" presetClass="entr" presetSubtype="2"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1+#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par>
                          <p:cTn id="29" fill="hold">
                            <p:stCondLst>
                              <p:cond delay="2800"/>
                            </p:stCondLst>
                            <p:childTnLst>
                              <p:par>
                                <p:cTn id="30" presetID="2" presetClass="entr" presetSubtype="2"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1+#ppt_w/2"/>
                                          </p:val>
                                        </p:tav>
                                        <p:tav tm="100000">
                                          <p:val>
                                            <p:strVal val="#ppt_x"/>
                                          </p:val>
                                        </p:tav>
                                      </p:tavLst>
                                    </p:anim>
                                    <p:anim calcmode="lin" valueType="num">
                                      <p:cBhvr additive="base">
                                        <p:cTn id="33"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PERSONA DEEP-DIVE</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 Zoom-In: Procedural Geometry &amp; Real-Time Lip Synchronization</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Detailed inspection of the 3D wireframe vertex mesh and biometric rendering pipeline.</a:t>
            </a:r>
          </a:p>
        </p:txBody>
      </p:sp>
      <p:sp>
        <p:nvSpPr>
          <p:cNvPr id="5" name="Rounded Rectangle 4"/>
          <p:cNvSpPr/>
          <p:nvPr/>
        </p:nvSpPr>
        <p:spPr>
          <a:xfrm>
            <a:off x="731520" y="1645920"/>
            <a:ext cx="5029200" cy="4389120"/>
          </a:xfrm>
          <a:prstGeom prst="roundRect">
            <a:avLst/>
          </a:prstGeom>
          <a:solidFill>
            <a:srgbClr val="050A14"/>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ace_3d_zoom.png"/>
          <p:cNvPicPr>
            <a:picLocks noChangeAspect="1"/>
          </p:cNvPicPr>
          <p:nvPr/>
        </p:nvPicPr>
        <p:blipFill>
          <a:blip r:embed="rId2"/>
          <a:stretch>
            <a:fillRect/>
          </a:stretch>
        </p:blipFill>
        <p:spPr>
          <a:xfrm>
            <a:off x="822960" y="1737360"/>
            <a:ext cx="4846320" cy="4206240"/>
          </a:xfrm>
          <a:prstGeom prst="rect">
            <a:avLst/>
          </a:prstGeom>
        </p:spPr>
      </p:pic>
      <p:sp>
        <p:nvSpPr>
          <p:cNvPr id="7" name="Rounded Rectangle 6"/>
          <p:cNvSpPr/>
          <p:nvPr/>
        </p:nvSpPr>
        <p:spPr>
          <a:xfrm>
            <a:off x="6035040" y="1645920"/>
            <a:ext cx="5394960" cy="137160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spcAft>
                <a:spcPts val="600"/>
              </a:spcAft>
              <a:defRPr sz="1300" b="1">
                <a:solidFill>
                  <a:srgbClr val="00F2FE"/>
                </a:solidFill>
                <a:latin typeface="Segoe UI"/>
              </a:defRPr>
            </a:pPr>
            <a:r>
              <a:t>📐  Custom Vertex Shader Architecture</a:t>
            </a:r>
          </a:p>
          <a:p>
            <a:pPr>
              <a:defRPr sz="1050">
                <a:solidFill>
                  <a:srgbClr val="94A3B8"/>
                </a:solidFill>
                <a:latin typeface="Segoe UI"/>
              </a:defRPr>
            </a:pPr>
            <a:r>
              <a:t>Procedural OpenGL/WebGL shader applying cyan-to-electric-blue gradient mapping across 2,400 polygon facets, creating a holographic depth aesthetic.</a:t>
            </a:r>
          </a:p>
        </p:txBody>
      </p:sp>
      <p:sp>
        <p:nvSpPr>
          <p:cNvPr id="8" name="Rounded Rectangle 7"/>
          <p:cNvSpPr/>
          <p:nvPr/>
        </p:nvSpPr>
        <p:spPr>
          <a:xfrm>
            <a:off x="6035040" y="3154680"/>
            <a:ext cx="5394960" cy="137160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spcAft>
                <a:spcPts val="600"/>
              </a:spcAft>
              <a:defRPr sz="1300" b="1">
                <a:solidFill>
                  <a:srgbClr val="00F59B"/>
                </a:solidFill>
                <a:latin typeface="Segoe UI"/>
              </a:defRPr>
            </a:pPr>
            <a:r>
              <a:t>📐  Real-Time Audio Reactive Jaw Displacement</a:t>
            </a:r>
          </a:p>
          <a:p>
            <a:pPr>
              <a:defRPr sz="1050">
                <a:solidFill>
                  <a:srgbClr val="94A3B8"/>
                </a:solidFill>
                <a:latin typeface="Segoe UI"/>
              </a:defRPr>
            </a:pPr>
            <a:r>
              <a:t>16kHz audio stream is analyzed through a fast Fourier transform (FFT) accumulator to deform vertex clusters around the mouth and jaw in sub-10ms latency.</a:t>
            </a:r>
          </a:p>
        </p:txBody>
      </p:sp>
      <p:sp>
        <p:nvSpPr>
          <p:cNvPr id="9" name="Rounded Rectangle 8"/>
          <p:cNvSpPr/>
          <p:nvPr/>
        </p:nvSpPr>
        <p:spPr>
          <a:xfrm>
            <a:off x="6035040" y="4663440"/>
            <a:ext cx="5394960" cy="1371600"/>
          </a:xfrm>
          <a:prstGeom prst="roundRect">
            <a:avLst/>
          </a:prstGeom>
          <a:solidFill>
            <a:srgbClr val="0B1426"/>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spcAft>
                <a:spcPts val="600"/>
              </a:spcAft>
              <a:defRPr sz="1300" b="1">
                <a:solidFill>
                  <a:srgbClr val="F59E0B"/>
                </a:solidFill>
                <a:latin typeface="Segoe UI"/>
              </a:defRPr>
            </a:pPr>
            <a:r>
              <a:t>📐  Reactive Gaze &amp; Status Pulses</a:t>
            </a:r>
          </a:p>
          <a:p>
            <a:pPr>
              <a:defRPr sz="1050">
                <a:solidFill>
                  <a:srgbClr val="94A3B8"/>
                </a:solidFill>
                <a:latin typeface="Segoe UI"/>
              </a:defRPr>
            </a:pPr>
            <a:r>
              <a:t>Green ocular emitters shift brightness to indicate cognitive states: Steady Green = Listening, Flashing Cyan = Thinking, Dimmed Amber = Idle standby.</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850" fill="hold"/>
                                        <p:tgtEl>
                                          <p:spTgt spid="6"/>
                                        </p:tgtEl>
                                        <p:attrNameLst>
                                          <p:attrName>ppt_w</p:attrName>
                                        </p:attrNameLst>
                                      </p:cBhvr>
                                      <p:tavLst>
                                        <p:tav tm="0">
                                          <p:val>
                                            <p:fltVal val="0"/>
                                          </p:val>
                                        </p:tav>
                                        <p:tav tm="100000">
                                          <p:val>
                                            <p:strVal val="#ppt_w"/>
                                          </p:val>
                                        </p:tav>
                                      </p:tavLst>
                                    </p:anim>
                                    <p:anim calcmode="lin" valueType="num">
                                      <p:cBhvr>
                                        <p:cTn id="8" dur="85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850"/>
                            </p:stCondLst>
                            <p:childTnLst>
                              <p:par>
                                <p:cTn id="10" presetID="3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320" decel="100000"/>
                                        <p:tgtEl>
                                          <p:spTgt spid="7"/>
                                        </p:tgtEl>
                                      </p:cBhvr>
                                    </p:animEffect>
                                    <p:anim calcmode="lin" valueType="num">
                                      <p:cBhvr>
                                        <p:cTn id="13" dur="320" decel="100000" fill="hold"/>
                                        <p:tgtEl>
                                          <p:spTgt spid="7"/>
                                        </p:tgtEl>
                                        <p:attrNameLst>
                                          <p:attrName>style.rotation</p:attrName>
                                        </p:attrNameLst>
                                      </p:cBhvr>
                                      <p:tavLst>
                                        <p:tav tm="0">
                                          <p:val>
                                            <p:fltVal val="-90"/>
                                          </p:val>
                                        </p:tav>
                                        <p:tav tm="100000">
                                          <p:val>
                                            <p:fltVal val="0"/>
                                          </p:val>
                                        </p:tav>
                                      </p:tavLst>
                                    </p:anim>
                                    <p:anim calcmode="lin" valueType="num">
                                      <p:cBhvr>
                                        <p:cTn id="14" dur="320" decel="100000" fill="hold"/>
                                        <p:tgtEl>
                                          <p:spTgt spid="7"/>
                                        </p:tgtEl>
                                        <p:attrNameLst>
                                          <p:attrName>ppt_x</p:attrName>
                                        </p:attrNameLst>
                                      </p:cBhvr>
                                      <p:tavLst>
                                        <p:tav tm="0">
                                          <p:val>
                                            <p:strVal val="#ppt_x+0.4"/>
                                          </p:val>
                                        </p:tav>
                                        <p:tav tm="100000">
                                          <p:val>
                                            <p:strVal val="#ppt_x-0.05"/>
                                          </p:val>
                                        </p:tav>
                                      </p:tavLst>
                                    </p:anim>
                                    <p:anim calcmode="lin" valueType="num">
                                      <p:cBhvr>
                                        <p:cTn id="15" dur="320" decel="100000" fill="hold"/>
                                        <p:tgtEl>
                                          <p:spTgt spid="7"/>
                                        </p:tgtEl>
                                        <p:attrNameLst>
                                          <p:attrName>ppt_y</p:attrName>
                                        </p:attrNameLst>
                                      </p:cBhvr>
                                      <p:tavLst>
                                        <p:tav tm="0">
                                          <p:val>
                                            <p:strVal val="#ppt_y-0.4"/>
                                          </p:val>
                                        </p:tav>
                                        <p:tav tm="100000">
                                          <p:val>
                                            <p:strVal val="#ppt_y+0.1"/>
                                          </p:val>
                                        </p:tav>
                                      </p:tavLst>
                                    </p:anim>
                                    <p:anim calcmode="lin" valueType="num">
                                      <p:cBhvr>
                                        <p:cTn id="16" dur="80" accel="100000" fill="hold">
                                          <p:stCondLst>
                                            <p:cond delay="320"/>
                                          </p:stCondLst>
                                        </p:cTn>
                                        <p:tgtEl>
                                          <p:spTgt spid="7"/>
                                        </p:tgtEl>
                                        <p:attrNameLst>
                                          <p:attrName>ppt_x</p:attrName>
                                        </p:attrNameLst>
                                      </p:cBhvr>
                                      <p:tavLst>
                                        <p:tav tm="0">
                                          <p:val>
                                            <p:strVal val="#ppt_x-0.05"/>
                                          </p:val>
                                        </p:tav>
                                        <p:tav tm="100000">
                                          <p:val>
                                            <p:strVal val="#ppt_x"/>
                                          </p:val>
                                        </p:tav>
                                      </p:tavLst>
                                    </p:anim>
                                    <p:anim calcmode="lin" valueType="num">
                                      <p:cBhvr>
                                        <p:cTn id="17" dur="80" accel="100000" fill="hold">
                                          <p:stCondLst>
                                            <p:cond delay="320"/>
                                          </p:stCondLst>
                                        </p:cTn>
                                        <p:tgtEl>
                                          <p:spTgt spid="7"/>
                                        </p:tgtEl>
                                        <p:attrNameLst>
                                          <p:attrName>ppt_y</p:attrName>
                                        </p:attrNameLst>
                                      </p:cBhvr>
                                      <p:tavLst>
                                        <p:tav tm="0">
                                          <p:val>
                                            <p:strVal val="#ppt_y+0.1"/>
                                          </p:val>
                                        </p:tav>
                                        <p:tav tm="100000">
                                          <p:val>
                                            <p:strVal val="#ppt_y"/>
                                          </p:val>
                                        </p:tav>
                                      </p:tavLst>
                                    </p:anim>
                                  </p:childTnLst>
                                </p:cTn>
                              </p:par>
                            </p:childTnLst>
                          </p:cTn>
                        </p:par>
                        <p:par>
                          <p:cTn id="18" fill="hold">
                            <p:stCondLst>
                              <p:cond delay="1250"/>
                            </p:stCondLst>
                            <p:childTnLst>
                              <p:par>
                                <p:cTn id="19" presetID="3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20" decel="100000"/>
                                        <p:tgtEl>
                                          <p:spTgt spid="8"/>
                                        </p:tgtEl>
                                      </p:cBhvr>
                                    </p:animEffect>
                                    <p:anim calcmode="lin" valueType="num">
                                      <p:cBhvr>
                                        <p:cTn id="22" dur="320" decel="100000" fill="hold"/>
                                        <p:tgtEl>
                                          <p:spTgt spid="8"/>
                                        </p:tgtEl>
                                        <p:attrNameLst>
                                          <p:attrName>style.rotation</p:attrName>
                                        </p:attrNameLst>
                                      </p:cBhvr>
                                      <p:tavLst>
                                        <p:tav tm="0">
                                          <p:val>
                                            <p:fltVal val="-90"/>
                                          </p:val>
                                        </p:tav>
                                        <p:tav tm="100000">
                                          <p:val>
                                            <p:fltVal val="0"/>
                                          </p:val>
                                        </p:tav>
                                      </p:tavLst>
                                    </p:anim>
                                    <p:anim calcmode="lin" valueType="num">
                                      <p:cBhvr>
                                        <p:cTn id="23" dur="320" decel="100000" fill="hold"/>
                                        <p:tgtEl>
                                          <p:spTgt spid="8"/>
                                        </p:tgtEl>
                                        <p:attrNameLst>
                                          <p:attrName>ppt_x</p:attrName>
                                        </p:attrNameLst>
                                      </p:cBhvr>
                                      <p:tavLst>
                                        <p:tav tm="0">
                                          <p:val>
                                            <p:strVal val="#ppt_x+0.4"/>
                                          </p:val>
                                        </p:tav>
                                        <p:tav tm="100000">
                                          <p:val>
                                            <p:strVal val="#ppt_x-0.05"/>
                                          </p:val>
                                        </p:tav>
                                      </p:tavLst>
                                    </p:anim>
                                    <p:anim calcmode="lin" valueType="num">
                                      <p:cBhvr>
                                        <p:cTn id="24" dur="320" decel="100000" fill="hold"/>
                                        <p:tgtEl>
                                          <p:spTgt spid="8"/>
                                        </p:tgtEl>
                                        <p:attrNameLst>
                                          <p:attrName>ppt_y</p:attrName>
                                        </p:attrNameLst>
                                      </p:cBhvr>
                                      <p:tavLst>
                                        <p:tav tm="0">
                                          <p:val>
                                            <p:strVal val="#ppt_y-0.4"/>
                                          </p:val>
                                        </p:tav>
                                        <p:tav tm="100000">
                                          <p:val>
                                            <p:strVal val="#ppt_y+0.1"/>
                                          </p:val>
                                        </p:tav>
                                      </p:tavLst>
                                    </p:anim>
                                    <p:anim calcmode="lin" valueType="num">
                                      <p:cBhvr>
                                        <p:cTn id="25" dur="80" accel="100000" fill="hold">
                                          <p:stCondLst>
                                            <p:cond delay="320"/>
                                          </p:stCondLst>
                                        </p:cTn>
                                        <p:tgtEl>
                                          <p:spTgt spid="8"/>
                                        </p:tgtEl>
                                        <p:attrNameLst>
                                          <p:attrName>ppt_x</p:attrName>
                                        </p:attrNameLst>
                                      </p:cBhvr>
                                      <p:tavLst>
                                        <p:tav tm="0">
                                          <p:val>
                                            <p:strVal val="#ppt_x-0.05"/>
                                          </p:val>
                                        </p:tav>
                                        <p:tav tm="100000">
                                          <p:val>
                                            <p:strVal val="#ppt_x"/>
                                          </p:val>
                                        </p:tav>
                                      </p:tavLst>
                                    </p:anim>
                                    <p:anim calcmode="lin" valueType="num">
                                      <p:cBhvr>
                                        <p:cTn id="26" dur="80" accel="100000" fill="hold">
                                          <p:stCondLst>
                                            <p:cond delay="320"/>
                                          </p:stCondLst>
                                        </p:cTn>
                                        <p:tgtEl>
                                          <p:spTgt spid="8"/>
                                        </p:tgtEl>
                                        <p:attrNameLst>
                                          <p:attrName>ppt_y</p:attrName>
                                        </p:attrNameLst>
                                      </p:cBhvr>
                                      <p:tavLst>
                                        <p:tav tm="0">
                                          <p:val>
                                            <p:strVal val="#ppt_y+0.1"/>
                                          </p:val>
                                        </p:tav>
                                        <p:tav tm="100000">
                                          <p:val>
                                            <p:strVal val="#ppt_y"/>
                                          </p:val>
                                        </p:tav>
                                      </p:tavLst>
                                    </p:anim>
                                  </p:childTnLst>
                                </p:cTn>
                              </p:par>
                            </p:childTnLst>
                          </p:cTn>
                        </p:par>
                        <p:par>
                          <p:cTn id="27" fill="hold">
                            <p:stCondLst>
                              <p:cond delay="1650"/>
                            </p:stCondLst>
                            <p:childTnLst>
                              <p:par>
                                <p:cTn id="28" presetID="3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20" decel="100000"/>
                                        <p:tgtEl>
                                          <p:spTgt spid="9"/>
                                        </p:tgtEl>
                                      </p:cBhvr>
                                    </p:animEffect>
                                    <p:anim calcmode="lin" valueType="num">
                                      <p:cBhvr>
                                        <p:cTn id="31" dur="320" decel="100000" fill="hold"/>
                                        <p:tgtEl>
                                          <p:spTgt spid="9"/>
                                        </p:tgtEl>
                                        <p:attrNameLst>
                                          <p:attrName>style.rotation</p:attrName>
                                        </p:attrNameLst>
                                      </p:cBhvr>
                                      <p:tavLst>
                                        <p:tav tm="0">
                                          <p:val>
                                            <p:fltVal val="-90"/>
                                          </p:val>
                                        </p:tav>
                                        <p:tav tm="100000">
                                          <p:val>
                                            <p:fltVal val="0"/>
                                          </p:val>
                                        </p:tav>
                                      </p:tavLst>
                                    </p:anim>
                                    <p:anim calcmode="lin" valueType="num">
                                      <p:cBhvr>
                                        <p:cTn id="32" dur="320" decel="100000" fill="hold"/>
                                        <p:tgtEl>
                                          <p:spTgt spid="9"/>
                                        </p:tgtEl>
                                        <p:attrNameLst>
                                          <p:attrName>ppt_x</p:attrName>
                                        </p:attrNameLst>
                                      </p:cBhvr>
                                      <p:tavLst>
                                        <p:tav tm="0">
                                          <p:val>
                                            <p:strVal val="#ppt_x+0.4"/>
                                          </p:val>
                                        </p:tav>
                                        <p:tav tm="100000">
                                          <p:val>
                                            <p:strVal val="#ppt_x-0.05"/>
                                          </p:val>
                                        </p:tav>
                                      </p:tavLst>
                                    </p:anim>
                                    <p:anim calcmode="lin" valueType="num">
                                      <p:cBhvr>
                                        <p:cTn id="33" dur="320" decel="100000" fill="hold"/>
                                        <p:tgtEl>
                                          <p:spTgt spid="9"/>
                                        </p:tgtEl>
                                        <p:attrNameLst>
                                          <p:attrName>ppt_y</p:attrName>
                                        </p:attrNameLst>
                                      </p:cBhvr>
                                      <p:tavLst>
                                        <p:tav tm="0">
                                          <p:val>
                                            <p:strVal val="#ppt_y-0.4"/>
                                          </p:val>
                                        </p:tav>
                                        <p:tav tm="100000">
                                          <p:val>
                                            <p:strVal val="#ppt_y+0.1"/>
                                          </p:val>
                                        </p:tav>
                                      </p:tavLst>
                                    </p:anim>
                                    <p:anim calcmode="lin" valueType="num">
                                      <p:cBhvr>
                                        <p:cTn id="34" dur="80" accel="100000" fill="hold">
                                          <p:stCondLst>
                                            <p:cond delay="320"/>
                                          </p:stCondLst>
                                        </p:cTn>
                                        <p:tgtEl>
                                          <p:spTgt spid="9"/>
                                        </p:tgtEl>
                                        <p:attrNameLst>
                                          <p:attrName>ppt_x</p:attrName>
                                        </p:attrNameLst>
                                      </p:cBhvr>
                                      <p:tavLst>
                                        <p:tav tm="0">
                                          <p:val>
                                            <p:strVal val="#ppt_x-0.05"/>
                                          </p:val>
                                        </p:tav>
                                        <p:tav tm="100000">
                                          <p:val>
                                            <p:strVal val="#ppt_x"/>
                                          </p:val>
                                        </p:tav>
                                      </p:tavLst>
                                    </p:anim>
                                    <p:anim calcmode="lin" valueType="num">
                                      <p:cBhvr>
                                        <p:cTn id="35" dur="80" accel="100000" fill="hold">
                                          <p:stCondLst>
                                            <p:cond delay="320"/>
                                          </p:stCondLst>
                                        </p:cTn>
                                        <p:tgtEl>
                                          <p:spTgt spid="9"/>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TOOL ECOSYSTEM</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The 20+ Autonomous Action Suite</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Comprehensive suite of local system tools discovered dynamically at runtime.</a:t>
            </a:r>
          </a:p>
        </p:txBody>
      </p:sp>
      <p:sp>
        <p:nvSpPr>
          <p:cNvPr id="5" name="Rounded Rectangle 4"/>
          <p:cNvSpPr/>
          <p:nvPr/>
        </p:nvSpPr>
        <p:spPr>
          <a:xfrm>
            <a:off x="731520" y="1645920"/>
            <a:ext cx="2468880" cy="466344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spcAft>
                <a:spcPts val="1400"/>
              </a:spcAft>
              <a:defRPr sz="1300" b="1">
                <a:solidFill>
                  <a:srgbClr val="00F2FE"/>
                </a:solidFill>
                <a:latin typeface="Segoe UI"/>
              </a:defRPr>
            </a:pPr>
            <a:r>
              <a:t>// SYSTEM &amp; HARDWARE</a:t>
            </a:r>
          </a:p>
          <a:p>
            <a:pPr>
              <a:defRPr sz="1200" b="1">
                <a:solidFill>
                  <a:srgbClr val="FFFFFF"/>
                </a:solidFill>
                <a:latin typeface="Consolas"/>
              </a:defRPr>
            </a:pPr>
            <a:r>
              <a:t>• computer_control.py</a:t>
            </a:r>
          </a:p>
          <a:p>
            <a:pPr>
              <a:spcAft>
                <a:spcPts val="800"/>
              </a:spcAft>
              <a:defRPr sz="1000">
                <a:solidFill>
                  <a:srgbClr val="94A3B8"/>
                </a:solidFill>
                <a:latin typeface="Segoe UI"/>
              </a:defRPr>
            </a:pPr>
            <a:r>
              <a:t>   Mouse, keyboard &amp; display automation</a:t>
            </a:r>
          </a:p>
          <a:p>
            <a:pPr>
              <a:defRPr sz="1200" b="1">
                <a:solidFill>
                  <a:srgbClr val="FFFFFF"/>
                </a:solidFill>
                <a:latin typeface="Consolas"/>
              </a:defRPr>
            </a:pPr>
            <a:r>
              <a:t>• laptop_control.py</a:t>
            </a:r>
          </a:p>
          <a:p>
            <a:pPr>
              <a:spcAft>
                <a:spcPts val="800"/>
              </a:spcAft>
              <a:defRPr sz="1000">
                <a:solidFill>
                  <a:srgbClr val="94A3B8"/>
                </a:solidFill>
                <a:latin typeface="Segoe UI"/>
              </a:defRPr>
            </a:pPr>
            <a:r>
              <a:t>   Brightness, battery &amp; sleep modes</a:t>
            </a:r>
          </a:p>
          <a:p>
            <a:pPr>
              <a:defRPr sz="1200" b="1">
                <a:solidFill>
                  <a:srgbClr val="FFFFFF"/>
                </a:solidFill>
                <a:latin typeface="Consolas"/>
              </a:defRPr>
            </a:pPr>
            <a:r>
              <a:t>• system_monitor.py</a:t>
            </a:r>
          </a:p>
          <a:p>
            <a:pPr>
              <a:spcAft>
                <a:spcPts val="800"/>
              </a:spcAft>
              <a:defRPr sz="1000">
                <a:solidFill>
                  <a:srgbClr val="94A3B8"/>
                </a:solidFill>
                <a:latin typeface="Segoe UI"/>
              </a:defRPr>
            </a:pPr>
            <a:r>
              <a:t>   CPU, RAM &amp; GPU telemetry stream</a:t>
            </a:r>
          </a:p>
          <a:p>
            <a:pPr>
              <a:defRPr sz="1200" b="1">
                <a:solidFill>
                  <a:srgbClr val="FFFFFF"/>
                </a:solidFill>
                <a:latin typeface="Consolas"/>
              </a:defRPr>
            </a:pPr>
            <a:r>
              <a:t>• background_mon.py</a:t>
            </a:r>
          </a:p>
          <a:p>
            <a:pPr>
              <a:spcAft>
                <a:spcPts val="800"/>
              </a:spcAft>
              <a:defRPr sz="1000">
                <a:solidFill>
                  <a:srgbClr val="94A3B8"/>
                </a:solidFill>
                <a:latin typeface="Segoe UI"/>
              </a:defRPr>
            </a:pPr>
            <a:r>
              <a:t>   Proactive daemon &amp; resource tracking</a:t>
            </a:r>
          </a:p>
        </p:txBody>
      </p:sp>
      <p:sp>
        <p:nvSpPr>
          <p:cNvPr id="6" name="Rounded Rectangle 5"/>
          <p:cNvSpPr/>
          <p:nvPr/>
        </p:nvSpPr>
        <p:spPr>
          <a:xfrm>
            <a:off x="3474720" y="1645920"/>
            <a:ext cx="2468880" cy="466344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spcAft>
                <a:spcPts val="1400"/>
              </a:spcAft>
              <a:defRPr sz="1300" b="1">
                <a:solidFill>
                  <a:srgbClr val="00F59B"/>
                </a:solidFill>
                <a:latin typeface="Segoe UI"/>
              </a:defRPr>
            </a:pPr>
            <a:r>
              <a:t>// DEVELOPER &amp; CODE</a:t>
            </a:r>
          </a:p>
          <a:p>
            <a:pPr>
              <a:defRPr sz="1200" b="1">
                <a:solidFill>
                  <a:srgbClr val="FFFFFF"/>
                </a:solidFill>
                <a:latin typeface="Consolas"/>
              </a:defRPr>
            </a:pPr>
            <a:r>
              <a:t>• dev_agent.py</a:t>
            </a:r>
          </a:p>
          <a:p>
            <a:pPr>
              <a:spcAft>
                <a:spcPts val="800"/>
              </a:spcAft>
              <a:defRPr sz="1000">
                <a:solidFill>
                  <a:srgbClr val="94A3B8"/>
                </a:solidFill>
                <a:latin typeface="Segoe UI"/>
              </a:defRPr>
            </a:pPr>
            <a:r>
              <a:t>   Autonomous coding agent &amp; runner</a:t>
            </a:r>
          </a:p>
          <a:p>
            <a:pPr>
              <a:defRPr sz="1200" b="1">
                <a:solidFill>
                  <a:srgbClr val="FFFFFF"/>
                </a:solidFill>
                <a:latin typeface="Consolas"/>
              </a:defRPr>
            </a:pPr>
            <a:r>
              <a:t>• code_helper.py</a:t>
            </a:r>
          </a:p>
          <a:p>
            <a:pPr>
              <a:spcAft>
                <a:spcPts val="800"/>
              </a:spcAft>
              <a:defRPr sz="1000">
                <a:solidFill>
                  <a:srgbClr val="94A3B8"/>
                </a:solidFill>
                <a:latin typeface="Segoe UI"/>
              </a:defRPr>
            </a:pPr>
            <a:r>
              <a:t>   Syntax fixing, AST parsing &amp; linting</a:t>
            </a:r>
          </a:p>
          <a:p>
            <a:pPr>
              <a:defRPr sz="1200" b="1">
                <a:solidFill>
                  <a:srgbClr val="FFFFFF"/>
                </a:solidFill>
                <a:latin typeface="Consolas"/>
              </a:defRPr>
            </a:pPr>
            <a:r>
              <a:t>• desktop.py</a:t>
            </a:r>
          </a:p>
          <a:p>
            <a:pPr>
              <a:spcAft>
                <a:spcPts val="800"/>
              </a:spcAft>
              <a:defRPr sz="1000">
                <a:solidFill>
                  <a:srgbClr val="94A3B8"/>
                </a:solidFill>
                <a:latin typeface="Segoe UI"/>
              </a:defRPr>
            </a:pPr>
            <a:r>
              <a:t>   Window tiling, workspace focus &amp; apps</a:t>
            </a:r>
          </a:p>
          <a:p>
            <a:pPr>
              <a:defRPr sz="1200" b="1">
                <a:solidFill>
                  <a:srgbClr val="FFFFFF"/>
                </a:solidFill>
                <a:latin typeface="Consolas"/>
              </a:defRPr>
            </a:pPr>
            <a:r>
              <a:t>• open_app.py</a:t>
            </a:r>
          </a:p>
          <a:p>
            <a:pPr>
              <a:spcAft>
                <a:spcPts val="800"/>
              </a:spcAft>
              <a:defRPr sz="1000">
                <a:solidFill>
                  <a:srgbClr val="94A3B8"/>
                </a:solidFill>
                <a:latin typeface="Segoe UI"/>
              </a:defRPr>
            </a:pPr>
            <a:r>
              <a:t>   Instant launch for local applications</a:t>
            </a:r>
          </a:p>
        </p:txBody>
      </p:sp>
      <p:sp>
        <p:nvSpPr>
          <p:cNvPr id="7" name="Rounded Rectangle 6"/>
          <p:cNvSpPr/>
          <p:nvPr/>
        </p:nvSpPr>
        <p:spPr>
          <a:xfrm>
            <a:off x="6217920" y="1645920"/>
            <a:ext cx="2468880" cy="4663440"/>
          </a:xfrm>
          <a:prstGeom prst="roundRect">
            <a:avLst/>
          </a:prstGeom>
          <a:solidFill>
            <a:srgbClr val="0B1426"/>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spcAft>
                <a:spcPts val="1400"/>
              </a:spcAft>
              <a:defRPr sz="1300" b="1">
                <a:solidFill>
                  <a:srgbClr val="4FACFE"/>
                </a:solidFill>
                <a:latin typeface="Segoe UI"/>
              </a:defRPr>
            </a:pPr>
            <a:r>
              <a:t>// WEB &amp; INTELLIGENCE</a:t>
            </a:r>
          </a:p>
          <a:p>
            <a:pPr>
              <a:defRPr sz="1200" b="1">
                <a:solidFill>
                  <a:srgbClr val="FFFFFF"/>
                </a:solidFill>
                <a:latin typeface="Consolas"/>
              </a:defRPr>
            </a:pPr>
            <a:r>
              <a:t>• web_search.py</a:t>
            </a:r>
          </a:p>
          <a:p>
            <a:pPr>
              <a:spcAft>
                <a:spcPts val="800"/>
              </a:spcAft>
              <a:defRPr sz="1000">
                <a:solidFill>
                  <a:srgbClr val="94A3B8"/>
                </a:solidFill>
                <a:latin typeface="Segoe UI"/>
              </a:defRPr>
            </a:pPr>
            <a:r>
              <a:t>   Multi-engine live search synthesis</a:t>
            </a:r>
          </a:p>
          <a:p>
            <a:pPr>
              <a:defRPr sz="1200" b="1">
                <a:solidFill>
                  <a:srgbClr val="FFFFFF"/>
                </a:solidFill>
                <a:latin typeface="Consolas"/>
              </a:defRPr>
            </a:pPr>
            <a:r>
              <a:t>• browser_control.py</a:t>
            </a:r>
          </a:p>
          <a:p>
            <a:pPr>
              <a:spcAft>
                <a:spcPts val="800"/>
              </a:spcAft>
              <a:defRPr sz="1000">
                <a:solidFill>
                  <a:srgbClr val="94A3B8"/>
                </a:solidFill>
                <a:latin typeface="Segoe UI"/>
              </a:defRPr>
            </a:pPr>
            <a:r>
              <a:t>   DOM extraction, clicks &amp; web forms</a:t>
            </a:r>
          </a:p>
          <a:p>
            <a:pPr>
              <a:defRPr sz="1200" b="1">
                <a:solidFill>
                  <a:srgbClr val="FFFFFF"/>
                </a:solidFill>
                <a:latin typeface="Consolas"/>
              </a:defRPr>
            </a:pPr>
            <a:r>
              <a:t>• weather_report.py</a:t>
            </a:r>
          </a:p>
          <a:p>
            <a:pPr>
              <a:spcAft>
                <a:spcPts val="800"/>
              </a:spcAft>
              <a:defRPr sz="1000">
                <a:solidFill>
                  <a:srgbClr val="94A3B8"/>
                </a:solidFill>
                <a:latin typeface="Segoe UI"/>
              </a:defRPr>
            </a:pPr>
            <a:r>
              <a:t>   Meteorological forecasting &amp; alerts</a:t>
            </a:r>
          </a:p>
          <a:p>
            <a:pPr>
              <a:defRPr sz="1200" b="1">
                <a:solidFill>
                  <a:srgbClr val="FFFFFF"/>
                </a:solidFill>
                <a:latin typeface="Consolas"/>
              </a:defRPr>
            </a:pPr>
            <a:r>
              <a:t>• flight_finder.py</a:t>
            </a:r>
          </a:p>
          <a:p>
            <a:pPr>
              <a:spcAft>
                <a:spcPts val="800"/>
              </a:spcAft>
              <a:defRPr sz="1000">
                <a:solidFill>
                  <a:srgbClr val="94A3B8"/>
                </a:solidFill>
                <a:latin typeface="Segoe UI"/>
              </a:defRPr>
            </a:pPr>
            <a:r>
              <a:t>   Live airfare &amp; schedule lookup</a:t>
            </a:r>
          </a:p>
        </p:txBody>
      </p:sp>
      <p:sp>
        <p:nvSpPr>
          <p:cNvPr id="8" name="Rounded Rectangle 7"/>
          <p:cNvSpPr/>
          <p:nvPr/>
        </p:nvSpPr>
        <p:spPr>
          <a:xfrm>
            <a:off x="8961120" y="1645920"/>
            <a:ext cx="2468880" cy="4663440"/>
          </a:xfrm>
          <a:prstGeom prst="roundRect">
            <a:avLst/>
          </a:prstGeom>
          <a:solidFill>
            <a:srgbClr val="0B1426"/>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wrap="square" lIns="182880" tIns="228600" rIns="182880" rtlCol="0" anchor="ctr"/>
          <a:lstStyle/>
          <a:p>
            <a:pPr algn="ctr">
              <a:spcAft>
                <a:spcPts val="1400"/>
              </a:spcAft>
              <a:defRPr sz="1300" b="1">
                <a:solidFill>
                  <a:srgbClr val="A855F7"/>
                </a:solidFill>
                <a:latin typeface="Segoe UI"/>
              </a:defRPr>
            </a:pPr>
            <a:r>
              <a:t>// MEDIA &amp; COMMS</a:t>
            </a:r>
          </a:p>
          <a:p>
            <a:pPr>
              <a:defRPr sz="1200" b="1">
                <a:solidFill>
                  <a:srgbClr val="FFFFFF"/>
                </a:solidFill>
                <a:latin typeface="Consolas"/>
              </a:defRPr>
            </a:pPr>
            <a:r>
              <a:t>• youtube_video.py</a:t>
            </a:r>
          </a:p>
          <a:p>
            <a:pPr>
              <a:spcAft>
                <a:spcPts val="800"/>
              </a:spcAft>
              <a:defRPr sz="1000">
                <a:solidFill>
                  <a:srgbClr val="94A3B8"/>
                </a:solidFill>
                <a:latin typeface="Segoe UI"/>
              </a:defRPr>
            </a:pPr>
            <a:r>
              <a:t>   Direct video search &amp; playback</a:t>
            </a:r>
          </a:p>
          <a:p>
            <a:pPr>
              <a:defRPr sz="1200" b="1">
                <a:solidFill>
                  <a:srgbClr val="FFFFFF"/>
                </a:solidFill>
                <a:latin typeface="Consolas"/>
              </a:defRPr>
            </a:pPr>
            <a:r>
              <a:t>• video_player.py</a:t>
            </a:r>
          </a:p>
          <a:p>
            <a:pPr>
              <a:spcAft>
                <a:spcPts val="800"/>
              </a:spcAft>
              <a:defRPr sz="1000">
                <a:solidFill>
                  <a:srgbClr val="94A3B8"/>
                </a:solidFill>
                <a:latin typeface="Segoe UI"/>
              </a:defRPr>
            </a:pPr>
            <a:r>
              <a:t>   Local MP4/MKV media player control</a:t>
            </a:r>
          </a:p>
          <a:p>
            <a:pPr>
              <a:defRPr sz="1200" b="1">
                <a:solidFill>
                  <a:srgbClr val="FFFFFF"/>
                </a:solidFill>
                <a:latin typeface="Consolas"/>
              </a:defRPr>
            </a:pPr>
            <a:r>
              <a:t>• send_message.py</a:t>
            </a:r>
          </a:p>
          <a:p>
            <a:pPr>
              <a:spcAft>
                <a:spcPts val="800"/>
              </a:spcAft>
              <a:defRPr sz="1000">
                <a:solidFill>
                  <a:srgbClr val="94A3B8"/>
                </a:solidFill>
                <a:latin typeface="Segoe UI"/>
              </a:defRPr>
            </a:pPr>
            <a:r>
              <a:t>   Automated WhatsApp &amp; email dispatch</a:t>
            </a:r>
          </a:p>
          <a:p>
            <a:pPr>
              <a:defRPr sz="1200" b="1">
                <a:solidFill>
                  <a:srgbClr val="FFFFFF"/>
                </a:solidFill>
                <a:latin typeface="Consolas"/>
              </a:defRPr>
            </a:pPr>
            <a:r>
              <a:t>• reminder.py</a:t>
            </a:r>
          </a:p>
          <a:p>
            <a:pPr>
              <a:spcAft>
                <a:spcPts val="800"/>
              </a:spcAft>
              <a:defRPr sz="1000">
                <a:solidFill>
                  <a:srgbClr val="94A3B8"/>
                </a:solidFill>
                <a:latin typeface="Segoe UI"/>
              </a:defRPr>
            </a:pPr>
            <a:r>
              <a:t>   Natural language alarms &amp; scheduling</a:t>
            </a:r>
          </a:p>
        </p:txBody>
      </p:sp>
    </p:spTree>
  </p:cSld>
  <p:clrMapOvr>
    <a:masterClrMapping/>
  </p:clrMapOvr>
  <mc:AlternateContent xmlns:mc="http://schemas.openxmlformats.org/markup-compatibility/2006" xmlns:p14="http://schemas.microsoft.com/office/powerpoint/2010/main">
    <mc:Choice Requires="p14">
      <p:transition spd="med" p14:dur="700">
        <p:push/>
      </p:transition>
    </mc:Choice>
    <mc:Fallback xmlns="">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0-#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AUTONOMOUS PLANNING</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Multi-Step Mission Planner Engine</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MARK 20's new high-order coordination engine for executing complex multi-action tasks.</a:t>
            </a:r>
          </a:p>
        </p:txBody>
      </p:sp>
      <p:sp>
        <p:nvSpPr>
          <p:cNvPr id="5" name="Rounded Rectangle 4"/>
          <p:cNvSpPr/>
          <p:nvPr/>
        </p:nvSpPr>
        <p:spPr>
          <a:xfrm>
            <a:off x="731520" y="1645920"/>
            <a:ext cx="1965960" cy="292608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defRPr sz="1100" b="1">
                <a:solidFill>
                  <a:srgbClr val="00F2FE"/>
                </a:solidFill>
                <a:latin typeface="Consolas"/>
              </a:defRPr>
            </a:pPr>
            <a:r>
              <a:t>STEP A</a:t>
            </a:r>
          </a:p>
          <a:p>
            <a:pPr>
              <a:spcAft>
                <a:spcPts val="1200"/>
              </a:spcAft>
              <a:defRPr sz="1600" b="1">
                <a:solidFill>
                  <a:srgbClr val="FFFFFF"/>
                </a:solidFill>
                <a:latin typeface="Segoe UI"/>
              </a:defRPr>
            </a:pPr>
            <a:r>
              <a:t>ANNOUNCE</a:t>
            </a:r>
          </a:p>
          <a:p>
            <a:pPr>
              <a:defRPr sz="1100">
                <a:solidFill>
                  <a:srgbClr val="94A3B8"/>
                </a:solidFill>
                <a:latin typeface="Segoe UI"/>
              </a:defRPr>
            </a:pPr>
            <a:r>
              <a:t>FRIDAY states one clear sentence naming all steps upfront before taking action.</a:t>
            </a:r>
          </a:p>
        </p:txBody>
      </p:sp>
      <p:sp>
        <p:nvSpPr>
          <p:cNvPr id="6" name="Rounded Rectangle 5"/>
          <p:cNvSpPr/>
          <p:nvPr/>
        </p:nvSpPr>
        <p:spPr>
          <a:xfrm>
            <a:off x="2916936" y="1645920"/>
            <a:ext cx="1965960" cy="2926080"/>
          </a:xfrm>
          <a:prstGeom prst="roundRect">
            <a:avLst/>
          </a:prstGeom>
          <a:solidFill>
            <a:srgbClr val="0B1426"/>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defRPr sz="1100" b="1">
                <a:solidFill>
                  <a:srgbClr val="4FACFE"/>
                </a:solidFill>
                <a:latin typeface="Consolas"/>
              </a:defRPr>
            </a:pPr>
            <a:r>
              <a:t>STEP B</a:t>
            </a:r>
          </a:p>
          <a:p>
            <a:pPr>
              <a:spcAft>
                <a:spcPts val="1200"/>
              </a:spcAft>
              <a:defRPr sz="1600" b="1">
                <a:solidFill>
                  <a:srgbClr val="FFFFFF"/>
                </a:solidFill>
                <a:latin typeface="Segoe UI"/>
              </a:defRPr>
            </a:pPr>
            <a:r>
              <a:t>REGISTER</a:t>
            </a:r>
          </a:p>
          <a:p>
            <a:pPr>
              <a:defRPr sz="1100">
                <a:solidFill>
                  <a:srgbClr val="94A3B8"/>
                </a:solidFill>
                <a:latin typeface="Segoe UI"/>
              </a:defRPr>
            </a:pPr>
            <a:r>
              <a:t>Registers ordered tool dependency graph and parameters in planner state machine.</a:t>
            </a:r>
          </a:p>
        </p:txBody>
      </p:sp>
      <p:sp>
        <p:nvSpPr>
          <p:cNvPr id="7" name="Rounded Rectangle 6"/>
          <p:cNvSpPr/>
          <p:nvPr/>
        </p:nvSpPr>
        <p:spPr>
          <a:xfrm>
            <a:off x="5102352" y="1645920"/>
            <a:ext cx="1965960" cy="292608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defRPr sz="1100" b="1">
                <a:solidFill>
                  <a:srgbClr val="00F59B"/>
                </a:solidFill>
                <a:latin typeface="Consolas"/>
              </a:defRPr>
            </a:pPr>
            <a:r>
              <a:t>STEP C</a:t>
            </a:r>
          </a:p>
          <a:p>
            <a:pPr>
              <a:spcAft>
                <a:spcPts val="1200"/>
              </a:spcAft>
              <a:defRPr sz="1600" b="1">
                <a:solidFill>
                  <a:srgbClr val="FFFFFF"/>
                </a:solidFill>
                <a:latin typeface="Segoe UI"/>
              </a:defRPr>
            </a:pPr>
            <a:r>
              <a:t>EXECUTE LOOP</a:t>
            </a:r>
          </a:p>
          <a:p>
            <a:pPr>
              <a:defRPr sz="1100">
                <a:solidFill>
                  <a:srgbClr val="94A3B8"/>
                </a:solidFill>
                <a:latin typeface="Segoe UI"/>
              </a:defRPr>
            </a:pPr>
            <a:r>
              <a:t>Executes step-by-step: calls tool, inspects return value, and accumulates context.</a:t>
            </a:r>
          </a:p>
        </p:txBody>
      </p:sp>
      <p:sp>
        <p:nvSpPr>
          <p:cNvPr id="8" name="Rounded Rectangle 7"/>
          <p:cNvSpPr/>
          <p:nvPr/>
        </p:nvSpPr>
        <p:spPr>
          <a:xfrm>
            <a:off x="7287768" y="1645920"/>
            <a:ext cx="1965960" cy="2926080"/>
          </a:xfrm>
          <a:prstGeom prst="roundRect">
            <a:avLst/>
          </a:prstGeom>
          <a:solidFill>
            <a:srgbClr val="0B1426"/>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defRPr sz="1100" b="1">
                <a:solidFill>
                  <a:srgbClr val="F59E0B"/>
                </a:solidFill>
                <a:latin typeface="Consolas"/>
              </a:defRPr>
            </a:pPr>
            <a:r>
              <a:t>STEP D</a:t>
            </a:r>
          </a:p>
          <a:p>
            <a:pPr>
              <a:spcAft>
                <a:spcPts val="1200"/>
              </a:spcAft>
              <a:defRPr sz="1600" b="1">
                <a:solidFill>
                  <a:srgbClr val="FFFFFF"/>
                </a:solidFill>
                <a:latin typeface="Segoe UI"/>
              </a:defRPr>
            </a:pPr>
            <a:r>
              <a:t>EDITH GATE</a:t>
            </a:r>
          </a:p>
          <a:p>
            <a:pPr>
              <a:defRPr sz="1100">
                <a:solidFill>
                  <a:srgbClr val="94A3B8"/>
                </a:solidFill>
                <a:latin typeface="Segoe UI"/>
              </a:defRPr>
            </a:pPr>
            <a:r>
              <a:t>Every single step passes EDITH risk analysis; triggers hardware gate if Level 3+.</a:t>
            </a:r>
          </a:p>
        </p:txBody>
      </p:sp>
      <p:sp>
        <p:nvSpPr>
          <p:cNvPr id="9" name="Rounded Rectangle 8"/>
          <p:cNvSpPr/>
          <p:nvPr/>
        </p:nvSpPr>
        <p:spPr>
          <a:xfrm>
            <a:off x="9473184" y="1645920"/>
            <a:ext cx="1965960" cy="2926080"/>
          </a:xfrm>
          <a:prstGeom prst="roundRect">
            <a:avLst/>
          </a:prstGeom>
          <a:solidFill>
            <a:srgbClr val="0B1426"/>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wrap="square" lIns="164592" tIns="228600" rIns="164592" rtlCol="0" anchor="ctr"/>
          <a:lstStyle/>
          <a:p>
            <a:pPr algn="ctr">
              <a:defRPr sz="1100" b="1">
                <a:solidFill>
                  <a:srgbClr val="A855F7"/>
                </a:solidFill>
                <a:latin typeface="Consolas"/>
              </a:defRPr>
            </a:pPr>
            <a:r>
              <a:t>STEP E</a:t>
            </a:r>
          </a:p>
          <a:p>
            <a:pPr>
              <a:spcAft>
                <a:spcPts val="1200"/>
              </a:spcAft>
              <a:defRPr sz="1600" b="1">
                <a:solidFill>
                  <a:srgbClr val="FFFFFF"/>
                </a:solidFill>
                <a:latin typeface="Segoe UI"/>
              </a:defRPr>
            </a:pPr>
            <a:r>
              <a:t>FINAL REPORT</a:t>
            </a:r>
          </a:p>
          <a:p>
            <a:pPr>
              <a:defRPr sz="1100">
                <a:solidFill>
                  <a:srgbClr val="94A3B8"/>
                </a:solidFill>
                <a:latin typeface="Segoe UI"/>
              </a:defRPr>
            </a:pPr>
            <a:r>
              <a:t>Synthesizes natural conversational completion summary directly back to user.</a:t>
            </a:r>
          </a:p>
        </p:txBody>
      </p:sp>
      <p:sp>
        <p:nvSpPr>
          <p:cNvPr id="10" name="Rounded Rectangle 9"/>
          <p:cNvSpPr/>
          <p:nvPr/>
        </p:nvSpPr>
        <p:spPr>
          <a:xfrm>
            <a:off x="731520" y="4846320"/>
            <a:ext cx="10728655" cy="1554480"/>
          </a:xfrm>
          <a:prstGeom prst="roundRect">
            <a:avLst/>
          </a:prstGeom>
          <a:solidFill>
            <a:srgbClr val="081020"/>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defRPr sz="1300" b="1">
                <a:solidFill>
                  <a:srgbClr val="00F2FE"/>
                </a:solidFill>
                <a:latin typeface="Consolas"/>
              </a:defRPr>
            </a:pPr>
            <a:r>
              <a:t>EXAMPLE MISSION:  "Turn on Bluetooth, open Chrome, search for flight prices, and maximize the window."</a:t>
            </a:r>
          </a:p>
          <a:p>
            <a:pPr>
              <a:defRPr sz="1100">
                <a:solidFill>
                  <a:srgbClr val="94A3B8"/>
                </a:solidFill>
                <a:latin typeface="Segoe UI"/>
              </a:defRPr>
            </a:pPr>
            <a:r>
              <a:t>1. Announcement: "I'm enabling Bluetooth, launching Chrome, checking flights, and maximizing your browser."</a:t>
            </a:r>
            <a:br/>
            <a:r>
              <a:t>2. Context Passing: Chrome window handle from step 2 is automatically forwarded to the window maximizer in step 4.</a:t>
            </a:r>
            <a:br/>
            <a:r>
              <a:t>3. Safe Recovery: If any intermediate step fails, execution halts cleanly and reports exact failure points.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350" fill="hold"/>
                                        <p:tgtEl>
                                          <p:spTgt spid="5"/>
                                        </p:tgtEl>
                                        <p:attrNameLst>
                                          <p:attrName>ppt_w</p:attrName>
                                        </p:attrNameLst>
                                      </p:cBhvr>
                                      <p:tavLst>
                                        <p:tav tm="0">
                                          <p:val>
                                            <p:fltVal val="0"/>
                                          </p:val>
                                        </p:tav>
                                        <p:tav tm="100000">
                                          <p:val>
                                            <p:strVal val="#ppt_w"/>
                                          </p:val>
                                        </p:tav>
                                      </p:tavLst>
                                    </p:anim>
                                    <p:anim calcmode="lin" valueType="num">
                                      <p:cBhvr>
                                        <p:cTn id="8" dur="35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2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350" fill="hold"/>
                                        <p:tgtEl>
                                          <p:spTgt spid="6"/>
                                        </p:tgtEl>
                                        <p:attrNameLst>
                                          <p:attrName>ppt_w</p:attrName>
                                        </p:attrNameLst>
                                      </p:cBhvr>
                                      <p:tavLst>
                                        <p:tav tm="0">
                                          <p:val>
                                            <p:fltVal val="0"/>
                                          </p:val>
                                        </p:tav>
                                        <p:tav tm="100000">
                                          <p:val>
                                            <p:strVal val="#ppt_w"/>
                                          </p:val>
                                        </p:tav>
                                      </p:tavLst>
                                    </p:anim>
                                    <p:anim calcmode="lin" valueType="num">
                                      <p:cBhvr>
                                        <p:cTn id="13" dur="350" fill="hold"/>
                                        <p:tgtEl>
                                          <p:spTgt spid="6"/>
                                        </p:tgtEl>
                                        <p:attrNameLst>
                                          <p:attrName>ppt_h</p:attrName>
                                        </p:attrNameLst>
                                      </p:cBhvr>
                                      <p:tavLst>
                                        <p:tav tm="0">
                                          <p:val>
                                            <p:fltVal val="0"/>
                                          </p:val>
                                        </p:tav>
                                        <p:tav tm="100000">
                                          <p:val>
                                            <p:strVal val="#ppt_h"/>
                                          </p:val>
                                        </p:tav>
                                      </p:tavLst>
                                    </p:anim>
                                  </p:childTnLst>
                                </p:cTn>
                              </p:par>
                            </p:childTnLst>
                          </p:cTn>
                        </p:par>
                        <p:par>
                          <p:cTn id="14" fill="hold">
                            <p:stCondLst>
                              <p:cond delay="700"/>
                            </p:stCondLst>
                            <p:childTnLst>
                              <p:par>
                                <p:cTn id="15" presetID="2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350" fill="hold"/>
                                        <p:tgtEl>
                                          <p:spTgt spid="7"/>
                                        </p:tgtEl>
                                        <p:attrNameLst>
                                          <p:attrName>ppt_w</p:attrName>
                                        </p:attrNameLst>
                                      </p:cBhvr>
                                      <p:tavLst>
                                        <p:tav tm="0">
                                          <p:val>
                                            <p:fltVal val="0"/>
                                          </p:val>
                                        </p:tav>
                                        <p:tav tm="100000">
                                          <p:val>
                                            <p:strVal val="#ppt_w"/>
                                          </p:val>
                                        </p:tav>
                                      </p:tavLst>
                                    </p:anim>
                                    <p:anim calcmode="lin" valueType="num">
                                      <p:cBhvr>
                                        <p:cTn id="18" dur="350" fill="hold"/>
                                        <p:tgtEl>
                                          <p:spTgt spid="7"/>
                                        </p:tgtEl>
                                        <p:attrNameLst>
                                          <p:attrName>ppt_h</p:attrName>
                                        </p:attrNameLst>
                                      </p:cBhvr>
                                      <p:tavLst>
                                        <p:tav tm="0">
                                          <p:val>
                                            <p:fltVal val="0"/>
                                          </p:val>
                                        </p:tav>
                                        <p:tav tm="100000">
                                          <p:val>
                                            <p:strVal val="#ppt_h"/>
                                          </p:val>
                                        </p:tav>
                                      </p:tavLst>
                                    </p:anim>
                                  </p:childTnLst>
                                </p:cTn>
                              </p:par>
                            </p:childTnLst>
                          </p:cTn>
                        </p:par>
                        <p:par>
                          <p:cTn id="19" fill="hold">
                            <p:stCondLst>
                              <p:cond delay="1050"/>
                            </p:stCondLst>
                            <p:childTnLst>
                              <p:par>
                                <p:cTn id="20" presetID="2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350" fill="hold"/>
                                        <p:tgtEl>
                                          <p:spTgt spid="8"/>
                                        </p:tgtEl>
                                        <p:attrNameLst>
                                          <p:attrName>ppt_w</p:attrName>
                                        </p:attrNameLst>
                                      </p:cBhvr>
                                      <p:tavLst>
                                        <p:tav tm="0">
                                          <p:val>
                                            <p:fltVal val="0"/>
                                          </p:val>
                                        </p:tav>
                                        <p:tav tm="100000">
                                          <p:val>
                                            <p:strVal val="#ppt_w"/>
                                          </p:val>
                                        </p:tav>
                                      </p:tavLst>
                                    </p:anim>
                                    <p:anim calcmode="lin" valueType="num">
                                      <p:cBhvr>
                                        <p:cTn id="23" dur="350" fill="hold"/>
                                        <p:tgtEl>
                                          <p:spTgt spid="8"/>
                                        </p:tgtEl>
                                        <p:attrNameLst>
                                          <p:attrName>ppt_h</p:attrName>
                                        </p:attrNameLst>
                                      </p:cBhvr>
                                      <p:tavLst>
                                        <p:tav tm="0">
                                          <p:val>
                                            <p:fltVal val="0"/>
                                          </p:val>
                                        </p:tav>
                                        <p:tav tm="100000">
                                          <p:val>
                                            <p:strVal val="#ppt_h"/>
                                          </p:val>
                                        </p:tav>
                                      </p:tavLst>
                                    </p:anim>
                                  </p:childTnLst>
                                </p:cTn>
                              </p:par>
                            </p:childTnLst>
                          </p:cTn>
                        </p:par>
                        <p:par>
                          <p:cTn id="24" fill="hold">
                            <p:stCondLst>
                              <p:cond delay="1400"/>
                            </p:stCondLst>
                            <p:childTnLst>
                              <p:par>
                                <p:cTn id="25" presetID="2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350" fill="hold"/>
                                        <p:tgtEl>
                                          <p:spTgt spid="9"/>
                                        </p:tgtEl>
                                        <p:attrNameLst>
                                          <p:attrName>ppt_w</p:attrName>
                                        </p:attrNameLst>
                                      </p:cBhvr>
                                      <p:tavLst>
                                        <p:tav tm="0">
                                          <p:val>
                                            <p:fltVal val="0"/>
                                          </p:val>
                                        </p:tav>
                                        <p:tav tm="100000">
                                          <p:val>
                                            <p:strVal val="#ppt_w"/>
                                          </p:val>
                                        </p:tav>
                                      </p:tavLst>
                                    </p:anim>
                                    <p:anim calcmode="lin" valueType="num">
                                      <p:cBhvr>
                                        <p:cTn id="28" dur="350" fill="hold"/>
                                        <p:tgtEl>
                                          <p:spTgt spid="9"/>
                                        </p:tgtEl>
                                        <p:attrNameLst>
                                          <p:attrName>ppt_h</p:attrName>
                                        </p:attrNameLst>
                                      </p:cBhvr>
                                      <p:tavLst>
                                        <p:tav tm="0">
                                          <p:val>
                                            <p:fltVal val="0"/>
                                          </p:val>
                                        </p:tav>
                                        <p:tav tm="100000">
                                          <p:val>
                                            <p:strVal val="#ppt_h"/>
                                          </p:val>
                                        </p:tav>
                                      </p:tavLst>
                                    </p:anim>
                                  </p:childTnLst>
                                </p:cTn>
                              </p:par>
                            </p:childTnLst>
                          </p:cTn>
                        </p:par>
                        <p:par>
                          <p:cTn id="29" fill="hold">
                            <p:stCondLst>
                              <p:cond delay="1750"/>
                            </p:stCondLst>
                            <p:childTnLst>
                              <p:par>
                                <p:cTn id="30" presetID="2" presetClass="entr" presetSubtype="8"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0-#ppt_w/2"/>
                                          </p:val>
                                        </p:tav>
                                        <p:tav tm="100000">
                                          <p:val>
                                            <p:strVal val="#ppt_x"/>
                                          </p:val>
                                        </p:tav>
                                      </p:tavLst>
                                    </p:anim>
                                    <p:anim calcmode="lin" valueType="num">
                                      <p:cBhvr additive="base">
                                        <p:cTn id="3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SECURITY &amp; SAFETY</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E.D.I.T.H. Security Policy Engine</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Evaluation of Dangerous Operations, Intent &amp; Risk Levels (Levels 0 to 4)</a:t>
            </a:r>
          </a:p>
        </p:txBody>
      </p:sp>
      <p:sp>
        <p:nvSpPr>
          <p:cNvPr id="5" name="Rounded Rectangle 4"/>
          <p:cNvSpPr/>
          <p:nvPr/>
        </p:nvSpPr>
        <p:spPr>
          <a:xfrm>
            <a:off x="685800" y="1600200"/>
            <a:ext cx="10820095" cy="3291840"/>
          </a:xfrm>
          <a:prstGeom prst="roundRect">
            <a:avLst/>
          </a:prstGeom>
          <a:solidFill>
            <a:srgbClr val="050A14"/>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dith_security_clean.png"/>
          <p:cNvPicPr>
            <a:picLocks noChangeAspect="1"/>
          </p:cNvPicPr>
          <p:nvPr/>
        </p:nvPicPr>
        <p:blipFill>
          <a:blip r:embed="rId2"/>
          <a:stretch>
            <a:fillRect/>
          </a:stretch>
        </p:blipFill>
        <p:spPr>
          <a:xfrm>
            <a:off x="731520" y="1645920"/>
            <a:ext cx="10728655" cy="3200400"/>
          </a:xfrm>
          <a:prstGeom prst="rect">
            <a:avLst/>
          </a:prstGeom>
        </p:spPr>
      </p:pic>
      <p:sp>
        <p:nvSpPr>
          <p:cNvPr id="7" name="Rounded Rectangle 6"/>
          <p:cNvSpPr/>
          <p:nvPr/>
        </p:nvSpPr>
        <p:spPr>
          <a:xfrm>
            <a:off x="731520" y="5120640"/>
            <a:ext cx="3291840" cy="128016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defRPr sz="1300" b="1">
                <a:solidFill>
                  <a:srgbClr val="00F2FE"/>
                </a:solidFill>
                <a:latin typeface="Segoe UI"/>
              </a:defRPr>
            </a:pPr>
            <a:r>
              <a:t>🛡️  Zero Implicit Trust</a:t>
            </a:r>
          </a:p>
          <a:p>
            <a:pPr>
              <a:defRPr sz="1100">
                <a:solidFill>
                  <a:srgbClr val="94A3B8"/>
                </a:solidFill>
                <a:latin typeface="Segoe UI"/>
              </a:defRPr>
            </a:pPr>
            <a:r>
              <a:t>Every autonomous tool invocation undergoes parametric risk verification before code executes.</a:t>
            </a:r>
          </a:p>
        </p:txBody>
      </p:sp>
      <p:sp>
        <p:nvSpPr>
          <p:cNvPr id="8" name="Rounded Rectangle 7"/>
          <p:cNvSpPr/>
          <p:nvPr/>
        </p:nvSpPr>
        <p:spPr>
          <a:xfrm>
            <a:off x="4389120" y="5120640"/>
            <a:ext cx="3291840" cy="1280160"/>
          </a:xfrm>
          <a:prstGeom prst="roundRect">
            <a:avLst/>
          </a:prstGeom>
          <a:solidFill>
            <a:srgbClr val="0B1426"/>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defRPr sz="1300" b="1">
                <a:solidFill>
                  <a:srgbClr val="F59E0B"/>
                </a:solidFill>
                <a:latin typeface="Segoe UI"/>
              </a:defRPr>
            </a:pPr>
            <a:r>
              <a:t>🛡️  Hardware Screen Gate</a:t>
            </a:r>
          </a:p>
          <a:p>
            <a:pPr>
              <a:defRPr sz="1100">
                <a:solidFill>
                  <a:srgbClr val="94A3B8"/>
                </a:solidFill>
                <a:latin typeface="Segoe UI"/>
              </a:defRPr>
            </a:pPr>
            <a:r>
              <a:t>Dangerous actions (Level 3) pause execution until the physical user clicks confirmation on screen.</a:t>
            </a:r>
          </a:p>
        </p:txBody>
      </p:sp>
      <p:sp>
        <p:nvSpPr>
          <p:cNvPr id="9" name="Rounded Rectangle 8"/>
          <p:cNvSpPr/>
          <p:nvPr/>
        </p:nvSpPr>
        <p:spPr>
          <a:xfrm>
            <a:off x="8046720" y="5120640"/>
            <a:ext cx="3291840" cy="128016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defRPr sz="1300" b="1">
                <a:solidFill>
                  <a:srgbClr val="00F59B"/>
                </a:solidFill>
                <a:latin typeface="Segoe UI"/>
              </a:defRPr>
            </a:pPr>
            <a:r>
              <a:t>🛡️  Transactional Rollbacks</a:t>
            </a:r>
          </a:p>
          <a:p>
            <a:pPr>
              <a:defRPr sz="1100">
                <a:solidFill>
                  <a:srgbClr val="94A3B8"/>
                </a:solidFill>
                <a:latin typeface="Segoe UI"/>
              </a:defRPr>
            </a:pPr>
            <a:r>
              <a:t>System mutations maintain undo journals, enabling instant voice rollback via "undo that, Friday".</a:t>
            </a:r>
          </a:p>
        </p:txBody>
      </p:sp>
    </p:spTree>
  </p:cSld>
  <p:clrMapOvr>
    <a:masterClrMapping/>
  </p:clrMapOvr>
  <mc:AlternateContent xmlns:mc="http://schemas.openxmlformats.org/markup-compatibility/2006" xmlns:p14="http://schemas.microsoft.com/office/powerpoint/2010/main">
    <mc:Choice Requires="p14">
      <p:transition spd="med" p14:dur="700">
        <p:push/>
      </p:transition>
    </mc:Choice>
    <mc:Fallback xmlns="">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800" fill="hold"/>
                                        <p:tgtEl>
                                          <p:spTgt spid="6"/>
                                        </p:tgtEl>
                                        <p:attrNameLst>
                                          <p:attrName>ppt_w</p:attrName>
                                        </p:attrNameLst>
                                      </p:cBhvr>
                                      <p:tavLst>
                                        <p:tav tm="0">
                                          <p:val>
                                            <p:fltVal val="0"/>
                                          </p:val>
                                        </p:tav>
                                        <p:tav tm="100000">
                                          <p:val>
                                            <p:strVal val="#ppt_w"/>
                                          </p:val>
                                        </p:tav>
                                      </p:tavLst>
                                    </p:anim>
                                    <p:anim calcmode="lin" valueType="num">
                                      <p:cBhvr>
                                        <p:cTn id="8" dur="80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800"/>
                            </p:stCondLst>
                            <p:childTnLst>
                              <p:par>
                                <p:cTn id="10" presetID="3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320" decel="100000"/>
                                        <p:tgtEl>
                                          <p:spTgt spid="7"/>
                                        </p:tgtEl>
                                      </p:cBhvr>
                                    </p:animEffect>
                                    <p:anim calcmode="lin" valueType="num">
                                      <p:cBhvr>
                                        <p:cTn id="13" dur="320" decel="100000" fill="hold"/>
                                        <p:tgtEl>
                                          <p:spTgt spid="7"/>
                                        </p:tgtEl>
                                        <p:attrNameLst>
                                          <p:attrName>style.rotation</p:attrName>
                                        </p:attrNameLst>
                                      </p:cBhvr>
                                      <p:tavLst>
                                        <p:tav tm="0">
                                          <p:val>
                                            <p:fltVal val="-90"/>
                                          </p:val>
                                        </p:tav>
                                        <p:tav tm="100000">
                                          <p:val>
                                            <p:fltVal val="0"/>
                                          </p:val>
                                        </p:tav>
                                      </p:tavLst>
                                    </p:anim>
                                    <p:anim calcmode="lin" valueType="num">
                                      <p:cBhvr>
                                        <p:cTn id="14" dur="320" decel="100000" fill="hold"/>
                                        <p:tgtEl>
                                          <p:spTgt spid="7"/>
                                        </p:tgtEl>
                                        <p:attrNameLst>
                                          <p:attrName>ppt_x</p:attrName>
                                        </p:attrNameLst>
                                      </p:cBhvr>
                                      <p:tavLst>
                                        <p:tav tm="0">
                                          <p:val>
                                            <p:strVal val="#ppt_x+0.4"/>
                                          </p:val>
                                        </p:tav>
                                        <p:tav tm="100000">
                                          <p:val>
                                            <p:strVal val="#ppt_x-0.05"/>
                                          </p:val>
                                        </p:tav>
                                      </p:tavLst>
                                    </p:anim>
                                    <p:anim calcmode="lin" valueType="num">
                                      <p:cBhvr>
                                        <p:cTn id="15" dur="320" decel="100000" fill="hold"/>
                                        <p:tgtEl>
                                          <p:spTgt spid="7"/>
                                        </p:tgtEl>
                                        <p:attrNameLst>
                                          <p:attrName>ppt_y</p:attrName>
                                        </p:attrNameLst>
                                      </p:cBhvr>
                                      <p:tavLst>
                                        <p:tav tm="0">
                                          <p:val>
                                            <p:strVal val="#ppt_y-0.4"/>
                                          </p:val>
                                        </p:tav>
                                        <p:tav tm="100000">
                                          <p:val>
                                            <p:strVal val="#ppt_y+0.1"/>
                                          </p:val>
                                        </p:tav>
                                      </p:tavLst>
                                    </p:anim>
                                    <p:anim calcmode="lin" valueType="num">
                                      <p:cBhvr>
                                        <p:cTn id="16" dur="80" accel="100000" fill="hold">
                                          <p:stCondLst>
                                            <p:cond delay="320"/>
                                          </p:stCondLst>
                                        </p:cTn>
                                        <p:tgtEl>
                                          <p:spTgt spid="7"/>
                                        </p:tgtEl>
                                        <p:attrNameLst>
                                          <p:attrName>ppt_x</p:attrName>
                                        </p:attrNameLst>
                                      </p:cBhvr>
                                      <p:tavLst>
                                        <p:tav tm="0">
                                          <p:val>
                                            <p:strVal val="#ppt_x-0.05"/>
                                          </p:val>
                                        </p:tav>
                                        <p:tav tm="100000">
                                          <p:val>
                                            <p:strVal val="#ppt_x"/>
                                          </p:val>
                                        </p:tav>
                                      </p:tavLst>
                                    </p:anim>
                                    <p:anim calcmode="lin" valueType="num">
                                      <p:cBhvr>
                                        <p:cTn id="17" dur="80" accel="100000" fill="hold">
                                          <p:stCondLst>
                                            <p:cond delay="320"/>
                                          </p:stCondLst>
                                        </p:cTn>
                                        <p:tgtEl>
                                          <p:spTgt spid="7"/>
                                        </p:tgtEl>
                                        <p:attrNameLst>
                                          <p:attrName>ppt_y</p:attrName>
                                        </p:attrNameLst>
                                      </p:cBhvr>
                                      <p:tavLst>
                                        <p:tav tm="0">
                                          <p:val>
                                            <p:strVal val="#ppt_y+0.1"/>
                                          </p:val>
                                        </p:tav>
                                        <p:tav tm="100000">
                                          <p:val>
                                            <p:strVal val="#ppt_y"/>
                                          </p:val>
                                        </p:tav>
                                      </p:tavLst>
                                    </p:anim>
                                  </p:childTnLst>
                                </p:cTn>
                              </p:par>
                            </p:childTnLst>
                          </p:cTn>
                        </p:par>
                        <p:par>
                          <p:cTn id="18" fill="hold">
                            <p:stCondLst>
                              <p:cond delay="1200"/>
                            </p:stCondLst>
                            <p:childTnLst>
                              <p:par>
                                <p:cTn id="19" presetID="3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20" decel="100000"/>
                                        <p:tgtEl>
                                          <p:spTgt spid="8"/>
                                        </p:tgtEl>
                                      </p:cBhvr>
                                    </p:animEffect>
                                    <p:anim calcmode="lin" valueType="num">
                                      <p:cBhvr>
                                        <p:cTn id="22" dur="320" decel="100000" fill="hold"/>
                                        <p:tgtEl>
                                          <p:spTgt spid="8"/>
                                        </p:tgtEl>
                                        <p:attrNameLst>
                                          <p:attrName>style.rotation</p:attrName>
                                        </p:attrNameLst>
                                      </p:cBhvr>
                                      <p:tavLst>
                                        <p:tav tm="0">
                                          <p:val>
                                            <p:fltVal val="-90"/>
                                          </p:val>
                                        </p:tav>
                                        <p:tav tm="100000">
                                          <p:val>
                                            <p:fltVal val="0"/>
                                          </p:val>
                                        </p:tav>
                                      </p:tavLst>
                                    </p:anim>
                                    <p:anim calcmode="lin" valueType="num">
                                      <p:cBhvr>
                                        <p:cTn id="23" dur="320" decel="100000" fill="hold"/>
                                        <p:tgtEl>
                                          <p:spTgt spid="8"/>
                                        </p:tgtEl>
                                        <p:attrNameLst>
                                          <p:attrName>ppt_x</p:attrName>
                                        </p:attrNameLst>
                                      </p:cBhvr>
                                      <p:tavLst>
                                        <p:tav tm="0">
                                          <p:val>
                                            <p:strVal val="#ppt_x+0.4"/>
                                          </p:val>
                                        </p:tav>
                                        <p:tav tm="100000">
                                          <p:val>
                                            <p:strVal val="#ppt_x-0.05"/>
                                          </p:val>
                                        </p:tav>
                                      </p:tavLst>
                                    </p:anim>
                                    <p:anim calcmode="lin" valueType="num">
                                      <p:cBhvr>
                                        <p:cTn id="24" dur="320" decel="100000" fill="hold"/>
                                        <p:tgtEl>
                                          <p:spTgt spid="8"/>
                                        </p:tgtEl>
                                        <p:attrNameLst>
                                          <p:attrName>ppt_y</p:attrName>
                                        </p:attrNameLst>
                                      </p:cBhvr>
                                      <p:tavLst>
                                        <p:tav tm="0">
                                          <p:val>
                                            <p:strVal val="#ppt_y-0.4"/>
                                          </p:val>
                                        </p:tav>
                                        <p:tav tm="100000">
                                          <p:val>
                                            <p:strVal val="#ppt_y+0.1"/>
                                          </p:val>
                                        </p:tav>
                                      </p:tavLst>
                                    </p:anim>
                                    <p:anim calcmode="lin" valueType="num">
                                      <p:cBhvr>
                                        <p:cTn id="25" dur="80" accel="100000" fill="hold">
                                          <p:stCondLst>
                                            <p:cond delay="320"/>
                                          </p:stCondLst>
                                        </p:cTn>
                                        <p:tgtEl>
                                          <p:spTgt spid="8"/>
                                        </p:tgtEl>
                                        <p:attrNameLst>
                                          <p:attrName>ppt_x</p:attrName>
                                        </p:attrNameLst>
                                      </p:cBhvr>
                                      <p:tavLst>
                                        <p:tav tm="0">
                                          <p:val>
                                            <p:strVal val="#ppt_x-0.05"/>
                                          </p:val>
                                        </p:tav>
                                        <p:tav tm="100000">
                                          <p:val>
                                            <p:strVal val="#ppt_x"/>
                                          </p:val>
                                        </p:tav>
                                      </p:tavLst>
                                    </p:anim>
                                    <p:anim calcmode="lin" valueType="num">
                                      <p:cBhvr>
                                        <p:cTn id="26" dur="80" accel="100000" fill="hold">
                                          <p:stCondLst>
                                            <p:cond delay="320"/>
                                          </p:stCondLst>
                                        </p:cTn>
                                        <p:tgtEl>
                                          <p:spTgt spid="8"/>
                                        </p:tgtEl>
                                        <p:attrNameLst>
                                          <p:attrName>ppt_y</p:attrName>
                                        </p:attrNameLst>
                                      </p:cBhvr>
                                      <p:tavLst>
                                        <p:tav tm="0">
                                          <p:val>
                                            <p:strVal val="#ppt_y+0.1"/>
                                          </p:val>
                                        </p:tav>
                                        <p:tav tm="100000">
                                          <p:val>
                                            <p:strVal val="#ppt_y"/>
                                          </p:val>
                                        </p:tav>
                                      </p:tavLst>
                                    </p:anim>
                                  </p:childTnLst>
                                </p:cTn>
                              </p:par>
                            </p:childTnLst>
                          </p:cTn>
                        </p:par>
                        <p:par>
                          <p:cTn id="27" fill="hold">
                            <p:stCondLst>
                              <p:cond delay="1600"/>
                            </p:stCondLst>
                            <p:childTnLst>
                              <p:par>
                                <p:cTn id="28" presetID="3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20" decel="100000"/>
                                        <p:tgtEl>
                                          <p:spTgt spid="9"/>
                                        </p:tgtEl>
                                      </p:cBhvr>
                                    </p:animEffect>
                                    <p:anim calcmode="lin" valueType="num">
                                      <p:cBhvr>
                                        <p:cTn id="31" dur="320" decel="100000" fill="hold"/>
                                        <p:tgtEl>
                                          <p:spTgt spid="9"/>
                                        </p:tgtEl>
                                        <p:attrNameLst>
                                          <p:attrName>style.rotation</p:attrName>
                                        </p:attrNameLst>
                                      </p:cBhvr>
                                      <p:tavLst>
                                        <p:tav tm="0">
                                          <p:val>
                                            <p:fltVal val="-90"/>
                                          </p:val>
                                        </p:tav>
                                        <p:tav tm="100000">
                                          <p:val>
                                            <p:fltVal val="0"/>
                                          </p:val>
                                        </p:tav>
                                      </p:tavLst>
                                    </p:anim>
                                    <p:anim calcmode="lin" valueType="num">
                                      <p:cBhvr>
                                        <p:cTn id="32" dur="320" decel="100000" fill="hold"/>
                                        <p:tgtEl>
                                          <p:spTgt spid="9"/>
                                        </p:tgtEl>
                                        <p:attrNameLst>
                                          <p:attrName>ppt_x</p:attrName>
                                        </p:attrNameLst>
                                      </p:cBhvr>
                                      <p:tavLst>
                                        <p:tav tm="0">
                                          <p:val>
                                            <p:strVal val="#ppt_x+0.4"/>
                                          </p:val>
                                        </p:tav>
                                        <p:tav tm="100000">
                                          <p:val>
                                            <p:strVal val="#ppt_x-0.05"/>
                                          </p:val>
                                        </p:tav>
                                      </p:tavLst>
                                    </p:anim>
                                    <p:anim calcmode="lin" valueType="num">
                                      <p:cBhvr>
                                        <p:cTn id="33" dur="320" decel="100000" fill="hold"/>
                                        <p:tgtEl>
                                          <p:spTgt spid="9"/>
                                        </p:tgtEl>
                                        <p:attrNameLst>
                                          <p:attrName>ppt_y</p:attrName>
                                        </p:attrNameLst>
                                      </p:cBhvr>
                                      <p:tavLst>
                                        <p:tav tm="0">
                                          <p:val>
                                            <p:strVal val="#ppt_y-0.4"/>
                                          </p:val>
                                        </p:tav>
                                        <p:tav tm="100000">
                                          <p:val>
                                            <p:strVal val="#ppt_y+0.1"/>
                                          </p:val>
                                        </p:tav>
                                      </p:tavLst>
                                    </p:anim>
                                    <p:anim calcmode="lin" valueType="num">
                                      <p:cBhvr>
                                        <p:cTn id="34" dur="80" accel="100000" fill="hold">
                                          <p:stCondLst>
                                            <p:cond delay="320"/>
                                          </p:stCondLst>
                                        </p:cTn>
                                        <p:tgtEl>
                                          <p:spTgt spid="9"/>
                                        </p:tgtEl>
                                        <p:attrNameLst>
                                          <p:attrName>ppt_x</p:attrName>
                                        </p:attrNameLst>
                                      </p:cBhvr>
                                      <p:tavLst>
                                        <p:tav tm="0">
                                          <p:val>
                                            <p:strVal val="#ppt_x-0.05"/>
                                          </p:val>
                                        </p:tav>
                                        <p:tav tm="100000">
                                          <p:val>
                                            <p:strVal val="#ppt_x"/>
                                          </p:val>
                                        </p:tav>
                                      </p:tavLst>
                                    </p:anim>
                                    <p:anim calcmode="lin" valueType="num">
                                      <p:cBhvr>
                                        <p:cTn id="35" dur="80" accel="100000" fill="hold">
                                          <p:stCondLst>
                                            <p:cond delay="320"/>
                                          </p:stCondLst>
                                        </p:cTn>
                                        <p:tgtEl>
                                          <p:spTgt spid="9"/>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MOBILE INTEGRATION</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Cross-Platform Ecosystem: Remote Web HUD &amp; Phone Mic Relay</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Control FRIDAY from anywhere on your local network using your smartphone or tablet.</a:t>
            </a:r>
          </a:p>
        </p:txBody>
      </p:sp>
      <p:sp>
        <p:nvSpPr>
          <p:cNvPr id="5" name="Rounded Rectangle 4"/>
          <p:cNvSpPr/>
          <p:nvPr/>
        </p:nvSpPr>
        <p:spPr>
          <a:xfrm>
            <a:off x="731520" y="1645920"/>
            <a:ext cx="3291840" cy="393192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400"/>
              </a:spcAft>
              <a:defRPr sz="1700" b="1">
                <a:solidFill>
                  <a:srgbClr val="00F2FE"/>
                </a:solidFill>
                <a:latin typeface="Segoe UI"/>
              </a:defRPr>
            </a:pPr>
            <a:r>
              <a:t>Mobile Web Dashboard</a:t>
            </a:r>
          </a:p>
          <a:p>
            <a:pPr>
              <a:spcAft>
                <a:spcPts val="800"/>
              </a:spcAft>
              <a:defRPr sz="1200">
                <a:solidFill>
                  <a:srgbClr val="94A3B8"/>
                </a:solidFill>
                <a:latin typeface="Segoe UI"/>
              </a:defRPr>
            </a:pPr>
            <a:r>
              <a:t>▪  Lightweight responsive Web HUD served via local HTTP daemon</a:t>
            </a:r>
          </a:p>
          <a:p>
            <a:pPr>
              <a:spcAft>
                <a:spcPts val="800"/>
              </a:spcAft>
              <a:defRPr sz="1200">
                <a:solidFill>
                  <a:srgbClr val="94A3B8"/>
                </a:solidFill>
                <a:latin typeface="Segoe UI"/>
              </a:defRPr>
            </a:pPr>
            <a:r>
              <a:t>▪  View live telemetry (CPU, RAM, Active Missions) from your phone</a:t>
            </a:r>
          </a:p>
          <a:p>
            <a:pPr>
              <a:spcAft>
                <a:spcPts val="800"/>
              </a:spcAft>
              <a:defRPr sz="1200">
                <a:solidFill>
                  <a:srgbClr val="94A3B8"/>
                </a:solidFill>
                <a:latin typeface="Segoe UI"/>
              </a:defRPr>
            </a:pPr>
            <a:r>
              <a:t>▪  Touch-optimized command buttons and interrupt triggers</a:t>
            </a:r>
          </a:p>
          <a:p>
            <a:pPr>
              <a:spcAft>
                <a:spcPts val="800"/>
              </a:spcAft>
              <a:defRPr sz="1200">
                <a:solidFill>
                  <a:srgbClr val="94A3B8"/>
                </a:solidFill>
                <a:latin typeface="Segoe UI"/>
              </a:defRPr>
            </a:pPr>
            <a:r>
              <a:t>▪  Zero app store installation required — runs in any mobile browser</a:t>
            </a:r>
          </a:p>
        </p:txBody>
      </p:sp>
      <p:sp>
        <p:nvSpPr>
          <p:cNvPr id="6" name="Rounded Rectangle 5"/>
          <p:cNvSpPr/>
          <p:nvPr/>
        </p:nvSpPr>
        <p:spPr>
          <a:xfrm>
            <a:off x="4389120" y="1645920"/>
            <a:ext cx="3291840" cy="393192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400"/>
              </a:spcAft>
              <a:defRPr sz="1700" b="1">
                <a:solidFill>
                  <a:srgbClr val="00F59B"/>
                </a:solidFill>
                <a:latin typeface="Segoe UI"/>
              </a:defRPr>
            </a:pPr>
            <a:r>
              <a:t>Phone Microphone Relay</a:t>
            </a:r>
          </a:p>
          <a:p>
            <a:pPr>
              <a:spcAft>
                <a:spcPts val="800"/>
              </a:spcAft>
              <a:defRPr sz="1200">
                <a:solidFill>
                  <a:srgbClr val="94A3B8"/>
                </a:solidFill>
                <a:latin typeface="Segoe UI"/>
              </a:defRPr>
            </a:pPr>
            <a:r>
              <a:t>▪  Use your smartphone as a high-fidelity wireless microphone</a:t>
            </a:r>
          </a:p>
          <a:p>
            <a:pPr>
              <a:spcAft>
                <a:spcPts val="800"/>
              </a:spcAft>
              <a:defRPr sz="1200">
                <a:solidFill>
                  <a:srgbClr val="94A3B8"/>
                </a:solidFill>
                <a:latin typeface="Segoe UI"/>
              </a:defRPr>
            </a:pPr>
            <a:r>
              <a:t>▪  Encodes 16kHz PCM audio stream directly through WebSockets</a:t>
            </a:r>
          </a:p>
          <a:p>
            <a:pPr>
              <a:spcAft>
                <a:spcPts val="800"/>
              </a:spcAft>
              <a:defRPr sz="1200">
                <a:solidFill>
                  <a:srgbClr val="94A3B8"/>
                </a:solidFill>
                <a:latin typeface="Segoe UI"/>
              </a:defRPr>
            </a:pPr>
            <a:r>
              <a:t>▪  Talk to FRIDAY across rooms without buying dedicated hardware</a:t>
            </a:r>
          </a:p>
          <a:p>
            <a:pPr>
              <a:spcAft>
                <a:spcPts val="800"/>
              </a:spcAft>
              <a:defRPr sz="1200">
                <a:solidFill>
                  <a:srgbClr val="94A3B8"/>
                </a:solidFill>
                <a:latin typeface="Segoe UI"/>
              </a:defRPr>
            </a:pPr>
            <a:r>
              <a:t>▪  Low-latency packet transmission with automatic reconnects</a:t>
            </a:r>
          </a:p>
        </p:txBody>
      </p:sp>
      <p:sp>
        <p:nvSpPr>
          <p:cNvPr id="7" name="Rounded Rectangle 6"/>
          <p:cNvSpPr/>
          <p:nvPr/>
        </p:nvSpPr>
        <p:spPr>
          <a:xfrm>
            <a:off x="8046720" y="1645920"/>
            <a:ext cx="3291840" cy="3931920"/>
          </a:xfrm>
          <a:prstGeom prst="roundRect">
            <a:avLst/>
          </a:prstGeom>
          <a:solidFill>
            <a:srgbClr val="0B1426"/>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400"/>
              </a:spcAft>
              <a:defRPr sz="1700" b="1">
                <a:solidFill>
                  <a:srgbClr val="4FACFE"/>
                </a:solidFill>
                <a:latin typeface="Segoe UI"/>
              </a:defRPr>
            </a:pPr>
            <a:r>
              <a:t>Distributed System Architecture</a:t>
            </a:r>
          </a:p>
          <a:p>
            <a:pPr>
              <a:spcAft>
                <a:spcPts val="800"/>
              </a:spcAft>
              <a:defRPr sz="1200">
                <a:solidFill>
                  <a:srgbClr val="94A3B8"/>
                </a:solidFill>
                <a:latin typeface="Segoe UI"/>
              </a:defRPr>
            </a:pPr>
            <a:r>
              <a:t>▪  Desktop engine acts as central server coordinating clients</a:t>
            </a:r>
          </a:p>
          <a:p>
            <a:pPr>
              <a:spcAft>
                <a:spcPts val="800"/>
              </a:spcAft>
              <a:defRPr sz="1200">
                <a:solidFill>
                  <a:srgbClr val="94A3B8"/>
                </a:solidFill>
                <a:latin typeface="Segoe UI"/>
              </a:defRPr>
            </a:pPr>
            <a:r>
              <a:t>▪  Secured via local network authentication tokens</a:t>
            </a:r>
          </a:p>
          <a:p>
            <a:pPr>
              <a:spcAft>
                <a:spcPts val="800"/>
              </a:spcAft>
              <a:defRPr sz="1200">
                <a:solidFill>
                  <a:srgbClr val="94A3B8"/>
                </a:solidFill>
                <a:latin typeface="Segoe UI"/>
              </a:defRPr>
            </a:pPr>
            <a:r>
              <a:t>▪  Unified event dispatch syncing state across all connected screens</a:t>
            </a:r>
          </a:p>
          <a:p>
            <a:pPr>
              <a:spcAft>
                <a:spcPts val="800"/>
              </a:spcAft>
              <a:defRPr sz="1200">
                <a:solidFill>
                  <a:srgbClr val="94A3B8"/>
                </a:solidFill>
                <a:latin typeface="Segoe UI"/>
              </a:defRPr>
            </a:pPr>
            <a:r>
              <a:t>▪  Seamless fallback to local desktop mic when phone is idle</a:t>
            </a:r>
          </a:p>
        </p:txBody>
      </p:sp>
      <p:sp>
        <p:nvSpPr>
          <p:cNvPr id="8" name="Rounded Rectangle 7"/>
          <p:cNvSpPr/>
          <p:nvPr/>
        </p:nvSpPr>
        <p:spPr>
          <a:xfrm>
            <a:off x="731520" y="5760720"/>
            <a:ext cx="10728655" cy="731520"/>
          </a:xfrm>
          <a:prstGeom prst="roundRect">
            <a:avLst/>
          </a:prstGeom>
          <a:solidFill>
            <a:srgbClr val="081020"/>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00F2FE"/>
                </a:solidFill>
                <a:latin typeface="Consolas"/>
              </a:defRPr>
            </a:pPr>
            <a:r>
              <a:t>NETWORK STACK:  Python aiohttp WebSocket Server  •  16kHz PCM Binary Framing  •  mDNS Auto-Discovery  •  SSL/TLS Ready</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320040"/>
          </a:xfrm>
          <a:prstGeom prst="rect">
            <a:avLst/>
          </a:prstGeom>
          <a:noFill/>
        </p:spPr>
        <p:txBody>
          <a:bodyPr wrap="square" lIns="0" tIns="0" rIns="0" bIns="0">
            <a:spAutoFit/>
          </a:bodyPr>
          <a:lstStyle/>
          <a:p>
            <a:pPr>
              <a:defRPr sz="1100" b="1">
                <a:solidFill>
                  <a:srgbClr val="00F2FE"/>
                </a:solidFill>
                <a:latin typeface="Consolas"/>
              </a:defRPr>
            </a:pPr>
            <a:r>
              <a:t>// SPECIFICATIONS</a:t>
            </a:r>
          </a:p>
        </p:txBody>
      </p:sp>
      <p:sp>
        <p:nvSpPr>
          <p:cNvPr id="3" name="TextBox 2"/>
          <p:cNvSpPr txBox="1"/>
          <p:nvPr/>
        </p:nvSpPr>
        <p:spPr>
          <a:xfrm>
            <a:off x="731520" y="658368"/>
            <a:ext cx="10515600" cy="548640"/>
          </a:xfrm>
          <a:prstGeom prst="rect">
            <a:avLst/>
          </a:prstGeom>
          <a:noFill/>
        </p:spPr>
        <p:txBody>
          <a:bodyPr wrap="square" lIns="0" tIns="0" rIns="0" bIns="0">
            <a:spAutoFit/>
          </a:bodyPr>
          <a:lstStyle/>
          <a:p>
            <a:pPr>
              <a:defRPr sz="2400" b="1">
                <a:solidFill>
                  <a:srgbClr val="FFFFFF"/>
                </a:solidFill>
                <a:latin typeface="Segoe UI"/>
              </a:defRPr>
            </a:pPr>
            <a:r>
              <a:t>Engineering Specifications &amp; Performance Benchmarks</a:t>
            </a:r>
          </a:p>
        </p:txBody>
      </p:sp>
      <p:sp>
        <p:nvSpPr>
          <p:cNvPr id="4" name="TextBox 3"/>
          <p:cNvSpPr txBox="1"/>
          <p:nvPr/>
        </p:nvSpPr>
        <p:spPr>
          <a:xfrm>
            <a:off x="731520" y="1188720"/>
            <a:ext cx="10515600" cy="320040"/>
          </a:xfrm>
          <a:prstGeom prst="rect">
            <a:avLst/>
          </a:prstGeom>
          <a:noFill/>
        </p:spPr>
        <p:txBody>
          <a:bodyPr wrap="square" lIns="0" tIns="0" rIns="0" bIns="0">
            <a:spAutoFit/>
          </a:bodyPr>
          <a:lstStyle/>
          <a:p>
            <a:pPr>
              <a:defRPr sz="1300">
                <a:solidFill>
                  <a:srgbClr val="94A3B8"/>
                </a:solidFill>
                <a:latin typeface="Segoe UI"/>
              </a:defRPr>
            </a:pPr>
            <a:r>
              <a:t>Architected for performance, stability, and modular extension.</a:t>
            </a:r>
          </a:p>
        </p:txBody>
      </p:sp>
      <p:sp>
        <p:nvSpPr>
          <p:cNvPr id="5" name="Rounded Rectangle 4"/>
          <p:cNvSpPr/>
          <p:nvPr/>
        </p:nvSpPr>
        <p:spPr>
          <a:xfrm>
            <a:off x="731520" y="1645920"/>
            <a:ext cx="2468880" cy="1463040"/>
          </a:xfrm>
          <a:prstGeom prst="roundRect">
            <a:avLst/>
          </a:prstGeom>
          <a:solidFill>
            <a:srgbClr val="0B1426"/>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00F2FE"/>
                </a:solidFill>
                <a:latin typeface="Segoe UI"/>
              </a:defRPr>
            </a:pPr>
            <a:r>
              <a:t>&lt; 800 ms</a:t>
            </a:r>
          </a:p>
          <a:p>
            <a:pPr algn="ctr">
              <a:defRPr sz="1150">
                <a:solidFill>
                  <a:srgbClr val="FFFFFF"/>
                </a:solidFill>
                <a:latin typeface="Segoe UI"/>
              </a:defRPr>
            </a:pPr>
            <a:r>
              <a:t>Voice Turn-Around Latency</a:t>
            </a:r>
          </a:p>
        </p:txBody>
      </p:sp>
      <p:sp>
        <p:nvSpPr>
          <p:cNvPr id="6" name="Rounded Rectangle 5"/>
          <p:cNvSpPr/>
          <p:nvPr/>
        </p:nvSpPr>
        <p:spPr>
          <a:xfrm>
            <a:off x="3474720" y="1645920"/>
            <a:ext cx="2468880" cy="1463040"/>
          </a:xfrm>
          <a:prstGeom prst="roundRect">
            <a:avLst/>
          </a:prstGeom>
          <a:solidFill>
            <a:srgbClr val="0B1426"/>
          </a:solidFill>
          <a:ln w="15240">
            <a:solidFill>
              <a:srgbClr val="00F59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00F59B"/>
                </a:solidFill>
                <a:latin typeface="Segoe UI"/>
              </a:defRPr>
            </a:pPr>
            <a:r>
              <a:t>20+ Tools</a:t>
            </a:r>
          </a:p>
          <a:p>
            <a:pPr algn="ctr">
              <a:defRPr sz="1150">
                <a:solidFill>
                  <a:srgbClr val="FFFFFF"/>
                </a:solidFill>
                <a:latin typeface="Segoe UI"/>
              </a:defRPr>
            </a:pPr>
            <a:r>
              <a:t>Dynamic Action Registry</a:t>
            </a:r>
          </a:p>
        </p:txBody>
      </p:sp>
      <p:sp>
        <p:nvSpPr>
          <p:cNvPr id="7" name="Rounded Rectangle 6"/>
          <p:cNvSpPr/>
          <p:nvPr/>
        </p:nvSpPr>
        <p:spPr>
          <a:xfrm>
            <a:off x="6217920" y="1645920"/>
            <a:ext cx="2468880" cy="1463040"/>
          </a:xfrm>
          <a:prstGeom prst="roundRect">
            <a:avLst/>
          </a:prstGeom>
          <a:solidFill>
            <a:srgbClr val="0B1426"/>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59E0B"/>
                </a:solidFill>
                <a:latin typeface="Segoe UI"/>
              </a:defRPr>
            </a:pPr>
            <a:r>
              <a:t>5 Levels</a:t>
            </a:r>
          </a:p>
          <a:p>
            <a:pPr algn="ctr">
              <a:defRPr sz="1150">
                <a:solidFill>
                  <a:srgbClr val="FFFFFF"/>
                </a:solidFill>
                <a:latin typeface="Segoe UI"/>
              </a:defRPr>
            </a:pPr>
            <a:r>
              <a:t>E.D.I.T.H. Risk Hierarchy</a:t>
            </a:r>
          </a:p>
        </p:txBody>
      </p:sp>
      <p:sp>
        <p:nvSpPr>
          <p:cNvPr id="8" name="Rounded Rectangle 7"/>
          <p:cNvSpPr/>
          <p:nvPr/>
        </p:nvSpPr>
        <p:spPr>
          <a:xfrm>
            <a:off x="8961120" y="1645920"/>
            <a:ext cx="2468880" cy="1463040"/>
          </a:xfrm>
          <a:prstGeom prst="roundRect">
            <a:avLst/>
          </a:prstGeom>
          <a:solidFill>
            <a:srgbClr val="0B1426"/>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A855F7"/>
                </a:solidFill>
                <a:latin typeface="Segoe UI"/>
              </a:defRPr>
            </a:pPr>
            <a:r>
              <a:t>Dual Mode</a:t>
            </a:r>
          </a:p>
          <a:p>
            <a:pPr algn="ctr">
              <a:defRPr sz="1150">
                <a:solidFill>
                  <a:srgbClr val="FFFFFF"/>
                </a:solidFill>
                <a:latin typeface="Segoe UI"/>
              </a:defRPr>
            </a:pPr>
            <a:r>
              <a:t>Arc Reactor / 3D Avatar</a:t>
            </a:r>
          </a:p>
        </p:txBody>
      </p:sp>
      <p:sp>
        <p:nvSpPr>
          <p:cNvPr id="9" name="Rounded Rectangle 8"/>
          <p:cNvSpPr/>
          <p:nvPr/>
        </p:nvSpPr>
        <p:spPr>
          <a:xfrm>
            <a:off x="731520" y="3383280"/>
            <a:ext cx="5212080" cy="1371600"/>
          </a:xfrm>
          <a:prstGeom prst="roundRect">
            <a:avLst/>
          </a:prstGeom>
          <a:solidFill>
            <a:srgbClr val="0B14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400" b="1">
                <a:solidFill>
                  <a:srgbClr val="00F2FE"/>
                </a:solidFill>
                <a:latin typeface="Segoe UI"/>
              </a:defRPr>
            </a:pPr>
            <a:r>
              <a:t>⚙  Core Runtime</a:t>
            </a:r>
          </a:p>
          <a:p>
            <a:pPr>
              <a:defRPr sz="1150">
                <a:solidFill>
                  <a:srgbClr val="94A3B8"/>
                </a:solidFill>
                <a:latin typeface="Segoe UI"/>
              </a:defRPr>
            </a:pPr>
            <a:r>
              <a:t>Python 3.12, asyncio event loops, sounddevice PCM capture, Win32 API hooks.</a:t>
            </a:r>
          </a:p>
        </p:txBody>
      </p:sp>
      <p:sp>
        <p:nvSpPr>
          <p:cNvPr id="10" name="Rounded Rectangle 9"/>
          <p:cNvSpPr/>
          <p:nvPr/>
        </p:nvSpPr>
        <p:spPr>
          <a:xfrm>
            <a:off x="6248095" y="3383280"/>
            <a:ext cx="5212080" cy="1371600"/>
          </a:xfrm>
          <a:prstGeom prst="roundRect">
            <a:avLst/>
          </a:prstGeom>
          <a:solidFill>
            <a:srgbClr val="0B14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400" b="1">
                <a:solidFill>
                  <a:srgbClr val="00F2FE"/>
                </a:solidFill>
                <a:latin typeface="Segoe UI"/>
              </a:defRPr>
            </a:pPr>
            <a:r>
              <a:t>⚙  AI Framework</a:t>
            </a:r>
          </a:p>
          <a:p>
            <a:pPr>
              <a:defRPr sz="1150">
                <a:solidFill>
                  <a:srgbClr val="94A3B8"/>
                </a:solidFill>
                <a:latin typeface="Segoe UI"/>
              </a:defRPr>
            </a:pPr>
            <a:r>
              <a:t>Google Gemini 2.0 Flash / Multimodal Live bidirectional streaming protocol.</a:t>
            </a:r>
          </a:p>
        </p:txBody>
      </p:sp>
      <p:sp>
        <p:nvSpPr>
          <p:cNvPr id="11" name="Rounded Rectangle 10"/>
          <p:cNvSpPr/>
          <p:nvPr/>
        </p:nvSpPr>
        <p:spPr>
          <a:xfrm>
            <a:off x="731520" y="4937760"/>
            <a:ext cx="5212080" cy="1371600"/>
          </a:xfrm>
          <a:prstGeom prst="roundRect">
            <a:avLst/>
          </a:prstGeom>
          <a:solidFill>
            <a:srgbClr val="0B14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400" b="1">
                <a:solidFill>
                  <a:srgbClr val="00F2FE"/>
                </a:solidFill>
                <a:latin typeface="Segoe UI"/>
              </a:defRPr>
            </a:pPr>
            <a:r>
              <a:t>⚙  HUD &amp; Interface</a:t>
            </a:r>
          </a:p>
          <a:p>
            <a:pPr>
              <a:defRPr sz="1150">
                <a:solidFill>
                  <a:srgbClr val="94A3B8"/>
                </a:solidFill>
                <a:latin typeface="Segoe UI"/>
              </a:defRPr>
            </a:pPr>
            <a:r>
              <a:t>PyQt6 hardware-accelerated GUI, WebGL / Three.js 3D avatar canvas, QSS cyber theme.</a:t>
            </a:r>
          </a:p>
        </p:txBody>
      </p:sp>
      <p:sp>
        <p:nvSpPr>
          <p:cNvPr id="12" name="Rounded Rectangle 11"/>
          <p:cNvSpPr/>
          <p:nvPr/>
        </p:nvSpPr>
        <p:spPr>
          <a:xfrm>
            <a:off x="6248095" y="4937760"/>
            <a:ext cx="5212080" cy="1371600"/>
          </a:xfrm>
          <a:prstGeom prst="roundRect">
            <a:avLst/>
          </a:prstGeom>
          <a:solidFill>
            <a:srgbClr val="0B1426"/>
          </a:solidFill>
          <a:ln w="15240">
            <a:solidFill>
              <a:srgbClr val="0E7490"/>
            </a:solidFill>
          </a:ln>
        </p:spPr>
        <p:style>
          <a:lnRef idx="1">
            <a:schemeClr val="accent1"/>
          </a:lnRef>
          <a:fillRef idx="3">
            <a:schemeClr val="accent1"/>
          </a:fillRef>
          <a:effectRef idx="2">
            <a:schemeClr val="accent1"/>
          </a:effectRef>
          <a:fontRef idx="minor">
            <a:schemeClr val="lt1"/>
          </a:fontRef>
        </p:style>
        <p:txBody>
          <a:bodyPr wrap="square" lIns="228600" tIns="182880" rIns="228600" rtlCol="0" anchor="ctr"/>
          <a:lstStyle/>
          <a:p>
            <a:pPr algn="ctr">
              <a:defRPr sz="1400" b="1">
                <a:solidFill>
                  <a:srgbClr val="00F2FE"/>
                </a:solidFill>
                <a:latin typeface="Segoe UI"/>
              </a:defRPr>
            </a:pPr>
            <a:r>
              <a:t>⚙  Security Policy</a:t>
            </a:r>
          </a:p>
          <a:p>
            <a:pPr>
              <a:defRPr sz="1150">
                <a:solidFill>
                  <a:srgbClr val="94A3B8"/>
                </a:solidFill>
                <a:latin typeface="Segoe UI"/>
              </a:defRPr>
            </a:pPr>
            <a:r>
              <a:t>EDITH gatekeeper with risk scoring, action undo journaling, and process blacklists.</a:t>
            </a:r>
          </a:p>
        </p:txBody>
      </p:sp>
    </p:spTree>
  </p:cSld>
  <p:clrMapOvr>
    <a:masterClrMapping/>
  </p:clrMapOvr>
  <mc:AlternateContent xmlns:mc="http://schemas.openxmlformats.org/markup-compatibility/2006" xmlns:p14="http://schemas.microsoft.com/office/powerpoint/2010/main">
    <mc:Choice Requires="p14">
      <p:transition spd="med" p14:dur="700">
        <p:push/>
      </p:transition>
    </mc:Choice>
    <mc:Fallback xmlns="">
      <p:transition spd="med">
        <p:pu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350" fill="hold"/>
                                        <p:tgtEl>
                                          <p:spTgt spid="5"/>
                                        </p:tgtEl>
                                        <p:attrNameLst>
                                          <p:attrName>ppt_w</p:attrName>
                                        </p:attrNameLst>
                                      </p:cBhvr>
                                      <p:tavLst>
                                        <p:tav tm="0">
                                          <p:val>
                                            <p:fltVal val="0"/>
                                          </p:val>
                                        </p:tav>
                                        <p:tav tm="100000">
                                          <p:val>
                                            <p:strVal val="#ppt_w"/>
                                          </p:val>
                                        </p:tav>
                                      </p:tavLst>
                                    </p:anim>
                                    <p:anim calcmode="lin" valueType="num">
                                      <p:cBhvr>
                                        <p:cTn id="8" dur="35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2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350" fill="hold"/>
                                        <p:tgtEl>
                                          <p:spTgt spid="6"/>
                                        </p:tgtEl>
                                        <p:attrNameLst>
                                          <p:attrName>ppt_w</p:attrName>
                                        </p:attrNameLst>
                                      </p:cBhvr>
                                      <p:tavLst>
                                        <p:tav tm="0">
                                          <p:val>
                                            <p:fltVal val="0"/>
                                          </p:val>
                                        </p:tav>
                                        <p:tav tm="100000">
                                          <p:val>
                                            <p:strVal val="#ppt_w"/>
                                          </p:val>
                                        </p:tav>
                                      </p:tavLst>
                                    </p:anim>
                                    <p:anim calcmode="lin" valueType="num">
                                      <p:cBhvr>
                                        <p:cTn id="13" dur="350" fill="hold"/>
                                        <p:tgtEl>
                                          <p:spTgt spid="6"/>
                                        </p:tgtEl>
                                        <p:attrNameLst>
                                          <p:attrName>ppt_h</p:attrName>
                                        </p:attrNameLst>
                                      </p:cBhvr>
                                      <p:tavLst>
                                        <p:tav tm="0">
                                          <p:val>
                                            <p:fltVal val="0"/>
                                          </p:val>
                                        </p:tav>
                                        <p:tav tm="100000">
                                          <p:val>
                                            <p:strVal val="#ppt_h"/>
                                          </p:val>
                                        </p:tav>
                                      </p:tavLst>
                                    </p:anim>
                                  </p:childTnLst>
                                </p:cTn>
                              </p:par>
                            </p:childTnLst>
                          </p:cTn>
                        </p:par>
                        <p:par>
                          <p:cTn id="14" fill="hold">
                            <p:stCondLst>
                              <p:cond delay="700"/>
                            </p:stCondLst>
                            <p:childTnLst>
                              <p:par>
                                <p:cTn id="15" presetID="2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350" fill="hold"/>
                                        <p:tgtEl>
                                          <p:spTgt spid="7"/>
                                        </p:tgtEl>
                                        <p:attrNameLst>
                                          <p:attrName>ppt_w</p:attrName>
                                        </p:attrNameLst>
                                      </p:cBhvr>
                                      <p:tavLst>
                                        <p:tav tm="0">
                                          <p:val>
                                            <p:fltVal val="0"/>
                                          </p:val>
                                        </p:tav>
                                        <p:tav tm="100000">
                                          <p:val>
                                            <p:strVal val="#ppt_w"/>
                                          </p:val>
                                        </p:tav>
                                      </p:tavLst>
                                    </p:anim>
                                    <p:anim calcmode="lin" valueType="num">
                                      <p:cBhvr>
                                        <p:cTn id="18" dur="350" fill="hold"/>
                                        <p:tgtEl>
                                          <p:spTgt spid="7"/>
                                        </p:tgtEl>
                                        <p:attrNameLst>
                                          <p:attrName>ppt_h</p:attrName>
                                        </p:attrNameLst>
                                      </p:cBhvr>
                                      <p:tavLst>
                                        <p:tav tm="0">
                                          <p:val>
                                            <p:fltVal val="0"/>
                                          </p:val>
                                        </p:tav>
                                        <p:tav tm="100000">
                                          <p:val>
                                            <p:strVal val="#ppt_h"/>
                                          </p:val>
                                        </p:tav>
                                      </p:tavLst>
                                    </p:anim>
                                  </p:childTnLst>
                                </p:cTn>
                              </p:par>
                            </p:childTnLst>
                          </p:cTn>
                        </p:par>
                        <p:par>
                          <p:cTn id="19" fill="hold">
                            <p:stCondLst>
                              <p:cond delay="1050"/>
                            </p:stCondLst>
                            <p:childTnLst>
                              <p:par>
                                <p:cTn id="20" presetID="2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350" fill="hold"/>
                                        <p:tgtEl>
                                          <p:spTgt spid="8"/>
                                        </p:tgtEl>
                                        <p:attrNameLst>
                                          <p:attrName>ppt_w</p:attrName>
                                        </p:attrNameLst>
                                      </p:cBhvr>
                                      <p:tavLst>
                                        <p:tav tm="0">
                                          <p:val>
                                            <p:fltVal val="0"/>
                                          </p:val>
                                        </p:tav>
                                        <p:tav tm="100000">
                                          <p:val>
                                            <p:strVal val="#ppt_w"/>
                                          </p:val>
                                        </p:tav>
                                      </p:tavLst>
                                    </p:anim>
                                    <p:anim calcmode="lin" valueType="num">
                                      <p:cBhvr>
                                        <p:cTn id="23" dur="350" fill="hold"/>
                                        <p:tgtEl>
                                          <p:spTgt spid="8"/>
                                        </p:tgtEl>
                                        <p:attrNameLst>
                                          <p:attrName>ppt_h</p:attrName>
                                        </p:attrNameLst>
                                      </p:cBhvr>
                                      <p:tavLst>
                                        <p:tav tm="0">
                                          <p:val>
                                            <p:fltVal val="0"/>
                                          </p:val>
                                        </p:tav>
                                        <p:tav tm="100000">
                                          <p:val>
                                            <p:strVal val="#ppt_h"/>
                                          </p:val>
                                        </p:tav>
                                      </p:tavLst>
                                    </p:anim>
                                  </p:childTnLst>
                                </p:cTn>
                              </p:par>
                            </p:childTnLst>
                          </p:cTn>
                        </p:par>
                        <p:par>
                          <p:cTn id="24" fill="hold">
                            <p:stCondLst>
                              <p:cond delay="1400"/>
                            </p:stCondLst>
                            <p:childTnLst>
                              <p:par>
                                <p:cTn id="25" presetID="3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80" decel="100000"/>
                                        <p:tgtEl>
                                          <p:spTgt spid="9"/>
                                        </p:tgtEl>
                                      </p:cBhvr>
                                    </p:animEffect>
                                    <p:anim calcmode="lin" valueType="num">
                                      <p:cBhvr>
                                        <p:cTn id="28" dur="280" decel="100000" fill="hold"/>
                                        <p:tgtEl>
                                          <p:spTgt spid="9"/>
                                        </p:tgtEl>
                                        <p:attrNameLst>
                                          <p:attrName>style.rotation</p:attrName>
                                        </p:attrNameLst>
                                      </p:cBhvr>
                                      <p:tavLst>
                                        <p:tav tm="0">
                                          <p:val>
                                            <p:fltVal val="-90"/>
                                          </p:val>
                                        </p:tav>
                                        <p:tav tm="100000">
                                          <p:val>
                                            <p:fltVal val="0"/>
                                          </p:val>
                                        </p:tav>
                                      </p:tavLst>
                                    </p:anim>
                                    <p:anim calcmode="lin" valueType="num">
                                      <p:cBhvr>
                                        <p:cTn id="29" dur="280" decel="100000" fill="hold"/>
                                        <p:tgtEl>
                                          <p:spTgt spid="9"/>
                                        </p:tgtEl>
                                        <p:attrNameLst>
                                          <p:attrName>ppt_x</p:attrName>
                                        </p:attrNameLst>
                                      </p:cBhvr>
                                      <p:tavLst>
                                        <p:tav tm="0">
                                          <p:val>
                                            <p:strVal val="#ppt_x+0.4"/>
                                          </p:val>
                                        </p:tav>
                                        <p:tav tm="100000">
                                          <p:val>
                                            <p:strVal val="#ppt_x-0.05"/>
                                          </p:val>
                                        </p:tav>
                                      </p:tavLst>
                                    </p:anim>
                                    <p:anim calcmode="lin" valueType="num">
                                      <p:cBhvr>
                                        <p:cTn id="30" dur="280" decel="100000" fill="hold"/>
                                        <p:tgtEl>
                                          <p:spTgt spid="9"/>
                                        </p:tgtEl>
                                        <p:attrNameLst>
                                          <p:attrName>ppt_y</p:attrName>
                                        </p:attrNameLst>
                                      </p:cBhvr>
                                      <p:tavLst>
                                        <p:tav tm="0">
                                          <p:val>
                                            <p:strVal val="#ppt_y-0.4"/>
                                          </p:val>
                                        </p:tav>
                                        <p:tav tm="100000">
                                          <p:val>
                                            <p:strVal val="#ppt_y+0.1"/>
                                          </p:val>
                                        </p:tav>
                                      </p:tavLst>
                                    </p:anim>
                                    <p:anim calcmode="lin" valueType="num">
                                      <p:cBhvr>
                                        <p:cTn id="31" dur="70" accel="100000" fill="hold">
                                          <p:stCondLst>
                                            <p:cond delay="280"/>
                                          </p:stCondLst>
                                        </p:cTn>
                                        <p:tgtEl>
                                          <p:spTgt spid="9"/>
                                        </p:tgtEl>
                                        <p:attrNameLst>
                                          <p:attrName>ppt_x</p:attrName>
                                        </p:attrNameLst>
                                      </p:cBhvr>
                                      <p:tavLst>
                                        <p:tav tm="0">
                                          <p:val>
                                            <p:strVal val="#ppt_x-0.05"/>
                                          </p:val>
                                        </p:tav>
                                        <p:tav tm="100000">
                                          <p:val>
                                            <p:strVal val="#ppt_x"/>
                                          </p:val>
                                        </p:tav>
                                      </p:tavLst>
                                    </p:anim>
                                    <p:anim calcmode="lin" valueType="num">
                                      <p:cBhvr>
                                        <p:cTn id="32" dur="70" accel="100000" fill="hold">
                                          <p:stCondLst>
                                            <p:cond delay="280"/>
                                          </p:stCondLst>
                                        </p:cTn>
                                        <p:tgtEl>
                                          <p:spTgt spid="9"/>
                                        </p:tgtEl>
                                        <p:attrNameLst>
                                          <p:attrName>ppt_y</p:attrName>
                                        </p:attrNameLst>
                                      </p:cBhvr>
                                      <p:tavLst>
                                        <p:tav tm="0">
                                          <p:val>
                                            <p:strVal val="#ppt_y+0.1"/>
                                          </p:val>
                                        </p:tav>
                                        <p:tav tm="100000">
                                          <p:val>
                                            <p:strVal val="#ppt_y"/>
                                          </p:val>
                                        </p:tav>
                                      </p:tavLst>
                                    </p:anim>
                                  </p:childTnLst>
                                </p:cTn>
                              </p:par>
                            </p:childTnLst>
                          </p:cTn>
                        </p:par>
                        <p:par>
                          <p:cTn id="33" fill="hold">
                            <p:stCondLst>
                              <p:cond delay="1750"/>
                            </p:stCondLst>
                            <p:childTnLst>
                              <p:par>
                                <p:cTn id="34" presetID="30" presetClass="entr" presetSubtype="0"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280" decel="100000"/>
                                        <p:tgtEl>
                                          <p:spTgt spid="10"/>
                                        </p:tgtEl>
                                      </p:cBhvr>
                                    </p:animEffect>
                                    <p:anim calcmode="lin" valueType="num">
                                      <p:cBhvr>
                                        <p:cTn id="37" dur="280" decel="100000" fill="hold"/>
                                        <p:tgtEl>
                                          <p:spTgt spid="10"/>
                                        </p:tgtEl>
                                        <p:attrNameLst>
                                          <p:attrName>style.rotation</p:attrName>
                                        </p:attrNameLst>
                                      </p:cBhvr>
                                      <p:tavLst>
                                        <p:tav tm="0">
                                          <p:val>
                                            <p:fltVal val="-90"/>
                                          </p:val>
                                        </p:tav>
                                        <p:tav tm="100000">
                                          <p:val>
                                            <p:fltVal val="0"/>
                                          </p:val>
                                        </p:tav>
                                      </p:tavLst>
                                    </p:anim>
                                    <p:anim calcmode="lin" valueType="num">
                                      <p:cBhvr>
                                        <p:cTn id="38" dur="280" decel="100000" fill="hold"/>
                                        <p:tgtEl>
                                          <p:spTgt spid="10"/>
                                        </p:tgtEl>
                                        <p:attrNameLst>
                                          <p:attrName>ppt_x</p:attrName>
                                        </p:attrNameLst>
                                      </p:cBhvr>
                                      <p:tavLst>
                                        <p:tav tm="0">
                                          <p:val>
                                            <p:strVal val="#ppt_x+0.4"/>
                                          </p:val>
                                        </p:tav>
                                        <p:tav tm="100000">
                                          <p:val>
                                            <p:strVal val="#ppt_x-0.05"/>
                                          </p:val>
                                        </p:tav>
                                      </p:tavLst>
                                    </p:anim>
                                    <p:anim calcmode="lin" valueType="num">
                                      <p:cBhvr>
                                        <p:cTn id="39" dur="280" decel="100000" fill="hold"/>
                                        <p:tgtEl>
                                          <p:spTgt spid="10"/>
                                        </p:tgtEl>
                                        <p:attrNameLst>
                                          <p:attrName>ppt_y</p:attrName>
                                        </p:attrNameLst>
                                      </p:cBhvr>
                                      <p:tavLst>
                                        <p:tav tm="0">
                                          <p:val>
                                            <p:strVal val="#ppt_y-0.4"/>
                                          </p:val>
                                        </p:tav>
                                        <p:tav tm="100000">
                                          <p:val>
                                            <p:strVal val="#ppt_y+0.1"/>
                                          </p:val>
                                        </p:tav>
                                      </p:tavLst>
                                    </p:anim>
                                    <p:anim calcmode="lin" valueType="num">
                                      <p:cBhvr>
                                        <p:cTn id="40" dur="70" accel="100000" fill="hold">
                                          <p:stCondLst>
                                            <p:cond delay="280"/>
                                          </p:stCondLst>
                                        </p:cTn>
                                        <p:tgtEl>
                                          <p:spTgt spid="10"/>
                                        </p:tgtEl>
                                        <p:attrNameLst>
                                          <p:attrName>ppt_x</p:attrName>
                                        </p:attrNameLst>
                                      </p:cBhvr>
                                      <p:tavLst>
                                        <p:tav tm="0">
                                          <p:val>
                                            <p:strVal val="#ppt_x-0.05"/>
                                          </p:val>
                                        </p:tav>
                                        <p:tav tm="100000">
                                          <p:val>
                                            <p:strVal val="#ppt_x"/>
                                          </p:val>
                                        </p:tav>
                                      </p:tavLst>
                                    </p:anim>
                                    <p:anim calcmode="lin" valueType="num">
                                      <p:cBhvr>
                                        <p:cTn id="41" dur="70" accel="100000" fill="hold">
                                          <p:stCondLst>
                                            <p:cond delay="280"/>
                                          </p:stCondLst>
                                        </p:cTn>
                                        <p:tgtEl>
                                          <p:spTgt spid="10"/>
                                        </p:tgtEl>
                                        <p:attrNameLst>
                                          <p:attrName>ppt_y</p:attrName>
                                        </p:attrNameLst>
                                      </p:cBhvr>
                                      <p:tavLst>
                                        <p:tav tm="0">
                                          <p:val>
                                            <p:strVal val="#ppt_y+0.1"/>
                                          </p:val>
                                        </p:tav>
                                        <p:tav tm="100000">
                                          <p:val>
                                            <p:strVal val="#ppt_y"/>
                                          </p:val>
                                        </p:tav>
                                      </p:tavLst>
                                    </p:anim>
                                  </p:childTnLst>
                                </p:cTn>
                              </p:par>
                            </p:childTnLst>
                          </p:cTn>
                        </p:par>
                        <p:par>
                          <p:cTn id="42" fill="hold">
                            <p:stCondLst>
                              <p:cond delay="2100"/>
                            </p:stCondLst>
                            <p:childTnLst>
                              <p:par>
                                <p:cTn id="43" presetID="30" presetClass="entr" presetSubtype="0"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280" decel="100000"/>
                                        <p:tgtEl>
                                          <p:spTgt spid="11"/>
                                        </p:tgtEl>
                                      </p:cBhvr>
                                    </p:animEffect>
                                    <p:anim calcmode="lin" valueType="num">
                                      <p:cBhvr>
                                        <p:cTn id="46" dur="280" decel="100000" fill="hold"/>
                                        <p:tgtEl>
                                          <p:spTgt spid="11"/>
                                        </p:tgtEl>
                                        <p:attrNameLst>
                                          <p:attrName>style.rotation</p:attrName>
                                        </p:attrNameLst>
                                      </p:cBhvr>
                                      <p:tavLst>
                                        <p:tav tm="0">
                                          <p:val>
                                            <p:fltVal val="-90"/>
                                          </p:val>
                                        </p:tav>
                                        <p:tav tm="100000">
                                          <p:val>
                                            <p:fltVal val="0"/>
                                          </p:val>
                                        </p:tav>
                                      </p:tavLst>
                                    </p:anim>
                                    <p:anim calcmode="lin" valueType="num">
                                      <p:cBhvr>
                                        <p:cTn id="47" dur="280" decel="100000" fill="hold"/>
                                        <p:tgtEl>
                                          <p:spTgt spid="11"/>
                                        </p:tgtEl>
                                        <p:attrNameLst>
                                          <p:attrName>ppt_x</p:attrName>
                                        </p:attrNameLst>
                                      </p:cBhvr>
                                      <p:tavLst>
                                        <p:tav tm="0">
                                          <p:val>
                                            <p:strVal val="#ppt_x+0.4"/>
                                          </p:val>
                                        </p:tav>
                                        <p:tav tm="100000">
                                          <p:val>
                                            <p:strVal val="#ppt_x-0.05"/>
                                          </p:val>
                                        </p:tav>
                                      </p:tavLst>
                                    </p:anim>
                                    <p:anim calcmode="lin" valueType="num">
                                      <p:cBhvr>
                                        <p:cTn id="48" dur="280" decel="100000" fill="hold"/>
                                        <p:tgtEl>
                                          <p:spTgt spid="11"/>
                                        </p:tgtEl>
                                        <p:attrNameLst>
                                          <p:attrName>ppt_y</p:attrName>
                                        </p:attrNameLst>
                                      </p:cBhvr>
                                      <p:tavLst>
                                        <p:tav tm="0">
                                          <p:val>
                                            <p:strVal val="#ppt_y-0.4"/>
                                          </p:val>
                                        </p:tav>
                                        <p:tav tm="100000">
                                          <p:val>
                                            <p:strVal val="#ppt_y+0.1"/>
                                          </p:val>
                                        </p:tav>
                                      </p:tavLst>
                                    </p:anim>
                                    <p:anim calcmode="lin" valueType="num">
                                      <p:cBhvr>
                                        <p:cTn id="49" dur="70" accel="100000" fill="hold">
                                          <p:stCondLst>
                                            <p:cond delay="280"/>
                                          </p:stCondLst>
                                        </p:cTn>
                                        <p:tgtEl>
                                          <p:spTgt spid="11"/>
                                        </p:tgtEl>
                                        <p:attrNameLst>
                                          <p:attrName>ppt_x</p:attrName>
                                        </p:attrNameLst>
                                      </p:cBhvr>
                                      <p:tavLst>
                                        <p:tav tm="0">
                                          <p:val>
                                            <p:strVal val="#ppt_x-0.05"/>
                                          </p:val>
                                        </p:tav>
                                        <p:tav tm="100000">
                                          <p:val>
                                            <p:strVal val="#ppt_x"/>
                                          </p:val>
                                        </p:tav>
                                      </p:tavLst>
                                    </p:anim>
                                    <p:anim calcmode="lin" valueType="num">
                                      <p:cBhvr>
                                        <p:cTn id="50" dur="70" accel="100000" fill="hold">
                                          <p:stCondLst>
                                            <p:cond delay="280"/>
                                          </p:stCondLst>
                                        </p:cTn>
                                        <p:tgtEl>
                                          <p:spTgt spid="11"/>
                                        </p:tgtEl>
                                        <p:attrNameLst>
                                          <p:attrName>ppt_y</p:attrName>
                                        </p:attrNameLst>
                                      </p:cBhvr>
                                      <p:tavLst>
                                        <p:tav tm="0">
                                          <p:val>
                                            <p:strVal val="#ppt_y+0.1"/>
                                          </p:val>
                                        </p:tav>
                                        <p:tav tm="100000">
                                          <p:val>
                                            <p:strVal val="#ppt_y"/>
                                          </p:val>
                                        </p:tav>
                                      </p:tavLst>
                                    </p:anim>
                                  </p:childTnLst>
                                </p:cTn>
                              </p:par>
                            </p:childTnLst>
                          </p:cTn>
                        </p:par>
                        <p:par>
                          <p:cTn id="51" fill="hold">
                            <p:stCondLst>
                              <p:cond delay="2450"/>
                            </p:stCondLst>
                            <p:childTnLst>
                              <p:par>
                                <p:cTn id="52" presetID="30" presetClass="entr" presetSubtype="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280" decel="100000"/>
                                        <p:tgtEl>
                                          <p:spTgt spid="12"/>
                                        </p:tgtEl>
                                      </p:cBhvr>
                                    </p:animEffect>
                                    <p:anim calcmode="lin" valueType="num">
                                      <p:cBhvr>
                                        <p:cTn id="55" dur="280" decel="100000" fill="hold"/>
                                        <p:tgtEl>
                                          <p:spTgt spid="12"/>
                                        </p:tgtEl>
                                        <p:attrNameLst>
                                          <p:attrName>style.rotation</p:attrName>
                                        </p:attrNameLst>
                                      </p:cBhvr>
                                      <p:tavLst>
                                        <p:tav tm="0">
                                          <p:val>
                                            <p:fltVal val="-90"/>
                                          </p:val>
                                        </p:tav>
                                        <p:tav tm="100000">
                                          <p:val>
                                            <p:fltVal val="0"/>
                                          </p:val>
                                        </p:tav>
                                      </p:tavLst>
                                    </p:anim>
                                    <p:anim calcmode="lin" valueType="num">
                                      <p:cBhvr>
                                        <p:cTn id="56" dur="280" decel="100000" fill="hold"/>
                                        <p:tgtEl>
                                          <p:spTgt spid="12"/>
                                        </p:tgtEl>
                                        <p:attrNameLst>
                                          <p:attrName>ppt_x</p:attrName>
                                        </p:attrNameLst>
                                      </p:cBhvr>
                                      <p:tavLst>
                                        <p:tav tm="0">
                                          <p:val>
                                            <p:strVal val="#ppt_x+0.4"/>
                                          </p:val>
                                        </p:tav>
                                        <p:tav tm="100000">
                                          <p:val>
                                            <p:strVal val="#ppt_x-0.05"/>
                                          </p:val>
                                        </p:tav>
                                      </p:tavLst>
                                    </p:anim>
                                    <p:anim calcmode="lin" valueType="num">
                                      <p:cBhvr>
                                        <p:cTn id="57" dur="280" decel="100000" fill="hold"/>
                                        <p:tgtEl>
                                          <p:spTgt spid="12"/>
                                        </p:tgtEl>
                                        <p:attrNameLst>
                                          <p:attrName>ppt_y</p:attrName>
                                        </p:attrNameLst>
                                      </p:cBhvr>
                                      <p:tavLst>
                                        <p:tav tm="0">
                                          <p:val>
                                            <p:strVal val="#ppt_y-0.4"/>
                                          </p:val>
                                        </p:tav>
                                        <p:tav tm="100000">
                                          <p:val>
                                            <p:strVal val="#ppt_y+0.1"/>
                                          </p:val>
                                        </p:tav>
                                      </p:tavLst>
                                    </p:anim>
                                    <p:anim calcmode="lin" valueType="num">
                                      <p:cBhvr>
                                        <p:cTn id="58" dur="70" accel="100000" fill="hold">
                                          <p:stCondLst>
                                            <p:cond delay="280"/>
                                          </p:stCondLst>
                                        </p:cTn>
                                        <p:tgtEl>
                                          <p:spTgt spid="12"/>
                                        </p:tgtEl>
                                        <p:attrNameLst>
                                          <p:attrName>ppt_x</p:attrName>
                                        </p:attrNameLst>
                                      </p:cBhvr>
                                      <p:tavLst>
                                        <p:tav tm="0">
                                          <p:val>
                                            <p:strVal val="#ppt_x-0.05"/>
                                          </p:val>
                                        </p:tav>
                                        <p:tav tm="100000">
                                          <p:val>
                                            <p:strVal val="#ppt_x"/>
                                          </p:val>
                                        </p:tav>
                                      </p:tavLst>
                                    </p:anim>
                                    <p:anim calcmode="lin" valueType="num">
                                      <p:cBhvr>
                                        <p:cTn id="59" dur="70" accel="100000" fill="hold">
                                          <p:stCondLst>
                                            <p:cond delay="280"/>
                                          </p:stCondLst>
                                        </p:cTn>
                                        <p:tgtEl>
                                          <p:spTgt spid="12"/>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30712"/>
        </a:solidFill>
        <a:effectLst/>
      </p:bgPr>
    </p:bg>
    <p:spTree>
      <p:nvGrpSpPr>
        <p:cNvPr id="1" name=""/>
        <p:cNvGrpSpPr/>
        <p:nvPr/>
      </p:nvGrpSpPr>
      <p:grpSpPr>
        <a:xfrm>
          <a:off x="0" y="0"/>
          <a:ext cx="0" cy="0"/>
          <a:chOff x="0" y="0"/>
          <a:chExt cx="0" cy="0"/>
        </a:xfrm>
      </p:grpSpPr>
      <p:sp>
        <p:nvSpPr>
          <p:cNvPr id="2" name="Rounded Rectangle 1"/>
          <p:cNvSpPr/>
          <p:nvPr/>
        </p:nvSpPr>
        <p:spPr>
          <a:xfrm>
            <a:off x="914400" y="640080"/>
            <a:ext cx="10362895" cy="5577840"/>
          </a:xfrm>
          <a:prstGeom prst="roundRect">
            <a:avLst/>
          </a:prstGeom>
          <a:solidFill>
            <a:srgbClr val="080E1C"/>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822960"/>
            <a:ext cx="9997135" cy="2011680"/>
          </a:xfrm>
          <a:prstGeom prst="rect">
            <a:avLst/>
          </a:prstGeom>
          <a:noFill/>
        </p:spPr>
        <p:txBody>
          <a:bodyPr wrap="square" lIns="0" tIns="0" rIns="0" bIns="0">
            <a:spAutoFit/>
          </a:bodyPr>
          <a:lstStyle/>
          <a:p>
            <a:pPr algn="ctr">
              <a:spcAft>
                <a:spcPts val="600"/>
              </a:spcAft>
              <a:defRPr sz="2400" b="1">
                <a:solidFill>
                  <a:srgbClr val="00F2FE"/>
                </a:solidFill>
                <a:latin typeface="Segoe UI"/>
              </a:defRPr>
            </a:pPr>
            <a:r>
              <a:t>🤖  THANK YOU FOR NOT PRESSING [ESC] TO INTERRUPT ME!</a:t>
            </a:r>
          </a:p>
          <a:p>
            <a:pPr algn="ctr">
              <a:spcAft>
                <a:spcPts val="800"/>
              </a:spcAft>
              <a:defRPr sz="1400" b="1">
                <a:solidFill>
                  <a:srgbClr val="00F59B"/>
                </a:solidFill>
                <a:latin typeface="Consolas"/>
              </a:defRPr>
            </a:pPr>
            <a:r>
              <a:t>"FRIDAY PROTOCOL 20: 0% BUGS, 100% COFFEE &amp; IRON MAN DREAMS"</a:t>
            </a:r>
          </a:p>
          <a:p>
            <a:pPr algn="ctr">
              <a:defRPr sz="1200">
                <a:solidFill>
                  <a:srgbClr val="F59E0B"/>
                </a:solidFill>
                <a:latin typeface="Segoe UI"/>
              </a:defRPr>
            </a:pPr>
            <a:r>
              <a:t>⚠️ WARNING: Do NOT ask FRIDAY to "delete System32" — EDITH Level 4 will personally haunt your Wi-Fi router.</a:t>
            </a:r>
          </a:p>
        </p:txBody>
      </p:sp>
      <p:sp>
        <p:nvSpPr>
          <p:cNvPr id="4" name="Rounded Rectangle 3"/>
          <p:cNvSpPr/>
          <p:nvPr/>
        </p:nvSpPr>
        <p:spPr>
          <a:xfrm>
            <a:off x="1097280" y="2926080"/>
            <a:ext cx="3108960" cy="1280160"/>
          </a:xfrm>
          <a:prstGeom prst="roundRect">
            <a:avLst/>
          </a:prstGeom>
          <a:solidFill>
            <a:srgbClr val="0C162A"/>
          </a:solidFill>
          <a:ln w="15240">
            <a:solidFill>
              <a:srgbClr val="00F2FE"/>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400"/>
              </a:spcAft>
              <a:defRPr sz="1300" b="1">
                <a:solidFill>
                  <a:srgbClr val="00F2FE"/>
                </a:solidFill>
                <a:latin typeface="Segoe UI"/>
              </a:defRPr>
            </a:pPr>
            <a:r>
              <a:t>☕ Caffeinated Status</a:t>
            </a:r>
          </a:p>
          <a:p>
            <a:pPr>
              <a:defRPr sz="1050">
                <a:solidFill>
                  <a:srgbClr val="FFFFFF"/>
                </a:solidFill>
                <a:latin typeface="Segoe UI"/>
              </a:defRPr>
            </a:pPr>
            <a:r>
              <a:t>"RAM usage at 94%? That's not a memory leak, that's FRIDAY storing sheer ambition."</a:t>
            </a:r>
          </a:p>
        </p:txBody>
      </p:sp>
      <p:sp>
        <p:nvSpPr>
          <p:cNvPr id="5" name="Rounded Rectangle 4"/>
          <p:cNvSpPr/>
          <p:nvPr/>
        </p:nvSpPr>
        <p:spPr>
          <a:xfrm>
            <a:off x="4526280" y="2926080"/>
            <a:ext cx="3108960" cy="1280160"/>
          </a:xfrm>
          <a:prstGeom prst="roundRect">
            <a:avLst/>
          </a:prstGeom>
          <a:solidFill>
            <a:srgbClr val="0C162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400"/>
              </a:spcAft>
              <a:defRPr sz="1300" b="1">
                <a:solidFill>
                  <a:srgbClr val="F59E0B"/>
                </a:solidFill>
                <a:latin typeface="Segoe UI"/>
              </a:defRPr>
            </a:pPr>
            <a:r>
              <a:t>⚡ EDITH Protection</a:t>
            </a:r>
          </a:p>
          <a:p>
            <a:pPr>
              <a:defRPr sz="1050">
                <a:solidFill>
                  <a:srgbClr val="FFFFFF"/>
                </a:solidFill>
                <a:latin typeface="Segoe UI"/>
              </a:defRPr>
            </a:pPr>
            <a:r>
              <a:t>"Your secrets are safer with EDITH than Tony Stark's passwords were with Peter Parker."</a:t>
            </a:r>
          </a:p>
        </p:txBody>
      </p:sp>
      <p:sp>
        <p:nvSpPr>
          <p:cNvPr id="6" name="Rounded Rectangle 5"/>
          <p:cNvSpPr/>
          <p:nvPr/>
        </p:nvSpPr>
        <p:spPr>
          <a:xfrm>
            <a:off x="7955280" y="2926080"/>
            <a:ext cx="3108960" cy="1280160"/>
          </a:xfrm>
          <a:prstGeom prst="roundRect">
            <a:avLst/>
          </a:prstGeom>
          <a:solidFill>
            <a:srgbClr val="0C162A"/>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ctr">
              <a:spcAft>
                <a:spcPts val="400"/>
              </a:spcAft>
              <a:defRPr sz="1300" b="1">
                <a:solidFill>
                  <a:srgbClr val="A855F7"/>
                </a:solidFill>
                <a:latin typeface="Segoe UI"/>
              </a:defRPr>
            </a:pPr>
            <a:r>
              <a:t>🚀 Star The Repo!</a:t>
            </a:r>
          </a:p>
          <a:p>
            <a:pPr>
              <a:defRPr sz="1050">
                <a:solidFill>
                  <a:srgbClr val="FFFFFF"/>
                </a:solidFill>
                <a:latin typeface="Segoe UI"/>
              </a:defRPr>
            </a:pPr>
            <a:r>
              <a:t>"1 Star on GitHub = +10 HP to FRIDAY's arc reactor core and -5 bugs in production."</a:t>
            </a:r>
          </a:p>
        </p:txBody>
      </p:sp>
      <p:sp>
        <p:nvSpPr>
          <p:cNvPr id="7" name="Rounded Rectangle 6"/>
          <p:cNvSpPr/>
          <p:nvPr/>
        </p:nvSpPr>
        <p:spPr>
          <a:xfrm>
            <a:off x="1097280" y="4389120"/>
            <a:ext cx="9997135" cy="1645920"/>
          </a:xfrm>
          <a:prstGeom prst="roundRect">
            <a:avLst/>
          </a:prstGeom>
          <a:solidFill>
            <a:srgbClr val="0A1224"/>
          </a:solidFill>
          <a:ln w="15240">
            <a:solidFill>
              <a:srgbClr val="4FACFE"/>
            </a:solidFill>
          </a:ln>
        </p:spPr>
        <p:style>
          <a:lnRef idx="1">
            <a:schemeClr val="accent1"/>
          </a:lnRef>
          <a:fillRef idx="3">
            <a:schemeClr val="accent1"/>
          </a:fillRef>
          <a:effectRef idx="2">
            <a:schemeClr val="accent1"/>
          </a:effectRef>
          <a:fontRef idx="minor">
            <a:schemeClr val="lt1"/>
          </a:fontRef>
        </p:style>
        <p:txBody>
          <a:bodyPr wrap="square" lIns="274320" tIns="164592" rIns="274320" rtlCol="0" anchor="ctr"/>
          <a:lstStyle/>
          <a:p>
            <a:pPr algn="ctr">
              <a:spcAft>
                <a:spcPts val="600"/>
              </a:spcAft>
              <a:defRPr sz="1400" b="1">
                <a:solidFill>
                  <a:srgbClr val="00F2FE"/>
                </a:solidFill>
                <a:latin typeface="Segoe UI"/>
              </a:defRPr>
            </a:pPr>
            <a:r>
              <a:t>ENGINEERED WITH PASSION &amp; HUMOR BY PRANAY GANDLEWAR</a:t>
            </a:r>
          </a:p>
          <a:p>
            <a:pPr algn="ctr">
              <a:spcAft>
                <a:spcPts val="300"/>
              </a:spcAft>
              <a:defRPr sz="1100">
                <a:solidFill>
                  <a:srgbClr val="FFFFFF"/>
                </a:solidFill>
                <a:latin typeface="Segoe UI"/>
              </a:defRPr>
            </a:pPr>
            <a:r>
              <a:t>🌐  Portfolio:  https://pranay-portfoliio.vercel.app/    •    📸  Instagram:  @mr.pranay_1101</a:t>
            </a:r>
          </a:p>
          <a:p>
            <a:pPr algn="ctr">
              <a:spcAft>
                <a:spcPts val="300"/>
              </a:spcAft>
              <a:defRPr sz="1100">
                <a:solidFill>
                  <a:srgbClr val="FFFFFF"/>
                </a:solidFill>
                <a:latin typeface="Segoe UI"/>
              </a:defRPr>
            </a:pPr>
            <a:r>
              <a:t>📬  Email Contact:  pranay.tech.ai@gmail.com    •    ⭐  GitHub:  pranaygandlewar/F.R.I.D.A.Y (MARK 20)</a:t>
            </a:r>
          </a:p>
          <a:p>
            <a:pPr algn="ctr">
              <a:spcAft>
                <a:spcPts val="300"/>
              </a:spcAft>
              <a:defRPr sz="1100">
                <a:solidFill>
                  <a:srgbClr val="FFFFFF"/>
                </a:solidFill>
                <a:latin typeface="Segoe UI"/>
              </a:defRPr>
            </a:pPr>
            <a:r>
              <a:t>"Always at your service, Boss. Now go build something awesome!"</a:t>
            </a:r>
          </a:p>
        </p:txBody>
      </p:sp>
    </p:spTree>
  </p:cSld>
  <p:clrMapOvr>
    <a:masterClrMapping/>
  </p:clrMapOvr>
  <mc:AlternateContent xmlns:mc="http://schemas.openxmlformats.org/markup-compatibility/2006" xmlns:p14="http://schemas.microsoft.com/office/powerpoint/2010/main">
    <mc:Choice Requires="p14">
      <p:transition spd="slow" p14:dur="9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850" fill="hold"/>
                                        <p:tgtEl>
                                          <p:spTgt spid="3"/>
                                        </p:tgtEl>
                                        <p:attrNameLst>
                                          <p:attrName>ppt_w</p:attrName>
                                        </p:attrNameLst>
                                      </p:cBhvr>
                                      <p:tavLst>
                                        <p:tav tm="0">
                                          <p:val>
                                            <p:fltVal val="0"/>
                                          </p:val>
                                        </p:tav>
                                        <p:tav tm="100000">
                                          <p:val>
                                            <p:strVal val="#ppt_w"/>
                                          </p:val>
                                        </p:tav>
                                      </p:tavLst>
                                    </p:anim>
                                    <p:anim calcmode="lin" valueType="num">
                                      <p:cBhvr>
                                        <p:cTn id="8" dur="8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85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350"/>
                            </p:stCondLst>
                            <p:childTnLst>
                              <p:par>
                                <p:cTn id="15" presetID="2" presetClass="entr" presetSubtype="8"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childTnLst>
                          </p:cTn>
                        </p:par>
                        <p:par>
                          <p:cTn id="19" fill="hold">
                            <p:stCondLst>
                              <p:cond delay="1850"/>
                            </p:stCondLst>
                            <p:childTnLst>
                              <p:par>
                                <p:cTn id="20" presetID="2" presetClass="entr" presetSubtype="8"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0-#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par>
                          <p:cTn id="24" fill="hold">
                            <p:stCondLst>
                              <p:cond delay="2350"/>
                            </p:stCondLst>
                            <p:childTnLst>
                              <p:par>
                                <p:cTn id="25" presetID="3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80" decel="100000"/>
                                        <p:tgtEl>
                                          <p:spTgt spid="7"/>
                                        </p:tgtEl>
                                      </p:cBhvr>
                                    </p:animEffect>
                                    <p:anim calcmode="lin" valueType="num">
                                      <p:cBhvr>
                                        <p:cTn id="28" dur="480" decel="100000" fill="hold"/>
                                        <p:tgtEl>
                                          <p:spTgt spid="7"/>
                                        </p:tgtEl>
                                        <p:attrNameLst>
                                          <p:attrName>style.rotation</p:attrName>
                                        </p:attrNameLst>
                                      </p:cBhvr>
                                      <p:tavLst>
                                        <p:tav tm="0">
                                          <p:val>
                                            <p:fltVal val="-90"/>
                                          </p:val>
                                        </p:tav>
                                        <p:tav tm="100000">
                                          <p:val>
                                            <p:fltVal val="0"/>
                                          </p:val>
                                        </p:tav>
                                      </p:tavLst>
                                    </p:anim>
                                    <p:anim calcmode="lin" valueType="num">
                                      <p:cBhvr>
                                        <p:cTn id="29" dur="480" decel="100000" fill="hold"/>
                                        <p:tgtEl>
                                          <p:spTgt spid="7"/>
                                        </p:tgtEl>
                                        <p:attrNameLst>
                                          <p:attrName>ppt_x</p:attrName>
                                        </p:attrNameLst>
                                      </p:cBhvr>
                                      <p:tavLst>
                                        <p:tav tm="0">
                                          <p:val>
                                            <p:strVal val="#ppt_x+0.4"/>
                                          </p:val>
                                        </p:tav>
                                        <p:tav tm="100000">
                                          <p:val>
                                            <p:strVal val="#ppt_x-0.05"/>
                                          </p:val>
                                        </p:tav>
                                      </p:tavLst>
                                    </p:anim>
                                    <p:anim calcmode="lin" valueType="num">
                                      <p:cBhvr>
                                        <p:cTn id="30" dur="480" decel="100000" fill="hold"/>
                                        <p:tgtEl>
                                          <p:spTgt spid="7"/>
                                        </p:tgtEl>
                                        <p:attrNameLst>
                                          <p:attrName>ppt_y</p:attrName>
                                        </p:attrNameLst>
                                      </p:cBhvr>
                                      <p:tavLst>
                                        <p:tav tm="0">
                                          <p:val>
                                            <p:strVal val="#ppt_y-0.4"/>
                                          </p:val>
                                        </p:tav>
                                        <p:tav tm="100000">
                                          <p:val>
                                            <p:strVal val="#ppt_y+0.1"/>
                                          </p:val>
                                        </p:tav>
                                      </p:tavLst>
                                    </p:anim>
                                    <p:anim calcmode="lin" valueType="num">
                                      <p:cBhvr>
                                        <p:cTn id="31" dur="120" accel="100000" fill="hold">
                                          <p:stCondLst>
                                            <p:cond delay="480"/>
                                          </p:stCondLst>
                                        </p:cTn>
                                        <p:tgtEl>
                                          <p:spTgt spid="7"/>
                                        </p:tgtEl>
                                        <p:attrNameLst>
                                          <p:attrName>ppt_x</p:attrName>
                                        </p:attrNameLst>
                                      </p:cBhvr>
                                      <p:tavLst>
                                        <p:tav tm="0">
                                          <p:val>
                                            <p:strVal val="#ppt_x-0.05"/>
                                          </p:val>
                                        </p:tav>
                                        <p:tav tm="100000">
                                          <p:val>
                                            <p:strVal val="#ppt_x"/>
                                          </p:val>
                                        </p:tav>
                                      </p:tavLst>
                                    </p:anim>
                                    <p:anim calcmode="lin" valueType="num">
                                      <p:cBhvr>
                                        <p:cTn id="32" dur="120" accel="100000" fill="hold">
                                          <p:stCondLst>
                                            <p:cond delay="48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1901</Words>
  <Application>Microsoft Office PowerPoint</Application>
  <PresentationFormat>Widescreen</PresentationFormat>
  <Paragraphs>200</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Pranay Gandlewar</cp:lastModifiedBy>
  <cp:revision>3</cp:revision>
  <dcterms:created xsi:type="dcterms:W3CDTF">2013-01-27T09:14:16Z</dcterms:created>
  <dcterms:modified xsi:type="dcterms:W3CDTF">2026-10-11T21:18:53Z</dcterms:modified>
  <cp:category/>
</cp:coreProperties>
</file>